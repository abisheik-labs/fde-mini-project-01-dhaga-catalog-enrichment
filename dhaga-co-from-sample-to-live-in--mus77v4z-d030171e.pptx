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Ritu, Vivek, Dev. We are here to talk about accelerating Dhaga's catalog from 9 days down to 48 hours. Our goal is simple: capture the Tuesday drop momentum by eliminating the manual listing wall that currently stops your inventory from reaching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Vivek, naming the problem in your language: it takes 35 minutes per SKU just to type 60 attributes across messy WhatsApp texts, PDFs, and handwritten challans. With 400 SKUs arriving weekly, your 6 agents are stuck behind a manual wall, and the search filter pills break for 92% of your shoppers because of inconsistent data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lag matters today because inventory depreciation is accelerating on your 6-week pull cycle. 28% of your returns are currently driven by fabric disputes and inconsistent care instructions that weren't caught at intake. By hitting our 2-day target, we reduce touch time by 85% and let you scale without adding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live demo. We start with the Ingestion Workbench showing raw vendor drops. With one click, the system derives and enriches attributes across the entire batch in under two seconds, moving items from Pending to Acceleration.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DHG-101. The messy vendor input is deterministically mapped to Dhaga's canonical Rani Pink palette and Slub Rayon fabric category. We validated the ₹799 price and generated Hinglish search tags like 'mehndi function dress' to capture mobile search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safety is non-negotiable. For DHG-999, the vendor sent contradictory fabric specs. Our system flagged the conflict immediately, holding the item in red for human review. I can resolve this in the UI, selecting the correct cotton rayon blend, and the item is instantly staged for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Completing the vision means building multimodal OCR for those handwritten challans and supplier PDFs, plus a direct two-way Shopify Admin API sync. We need a scoped Shopify staging key, 100 historical challans, and 2 hours a week with an operator to hit the Phase 4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DEFENSE MATRIX (Internal Only):
- Dev (CTO): It's standard Python/API calls, no ML weights to tune.
- Ritu (CEO): The evaluator catches contradictions; no silent fails.
- Finance: ₹72/week API cost vs ₹1 Lakh/month labor savings.
- Vivek: Adoption is simplified through the single 'Resolve' UI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950509"/>
            <a:ext cx="8286750" cy="214313"/>
          </a:xfrm>
          <a:prstGeom prst="rect">
            <a:avLst/>
          </a:prstGeom>
          <a:noFill/>
          <a:ln/>
        </p:spPr>
        <p:txBody>
          <a:bodyPr wrap="square" lIns="0" tIns="0" rIns="0" bIns="0" rtlCol="0" anchor="t">
            <a:spAutoFit/>
          </a:bodyPr>
          <a:lstStyle/>
          <a:p>
            <a:pPr algn="l" indent="0" marL="0">
              <a:buNone/>
            </a:pPr>
            <a:r>
              <a:rPr lang="en-US" sz="1250" dirty="0">
                <a:solidFill>
                  <a:srgbClr val="FFFFFF"/>
                </a:solidFill>
                <a:latin typeface="Outfit Bold" pitchFamily="34" charset="0"/>
                <a:ea typeface="Outfit Bold" pitchFamily="34" charset="-122"/>
                <a:cs typeface="Outfit Bold" pitchFamily="34" charset="-120"/>
              </a:rPr>
              <a:t>DHAGA &amp; CO. | PROJECT ACCELERATOR</a:t>
            </a:r>
            <a:endParaRPr lang="en-US" sz="1250" dirty="0"/>
          </a:p>
        </p:txBody>
      </p:sp>
      <p:sp>
        <p:nvSpPr>
          <p:cNvPr id="5" name="Text 1"/>
          <p:cNvSpPr/>
          <p:nvPr/>
        </p:nvSpPr>
        <p:spPr>
          <a:xfrm>
            <a:off x="428625" y="1736322"/>
            <a:ext cx="6429375" cy="1131503"/>
          </a:xfrm>
          <a:prstGeom prst="rect">
            <a:avLst/>
          </a:prstGeom>
          <a:noFill/>
          <a:ln/>
        </p:spPr>
        <p:txBody>
          <a:bodyPr wrap="square" lIns="0" tIns="0" rIns="0" bIns="0" rtlCol="0" anchor="t">
            <a:spAutoFit/>
          </a:bodyPr>
          <a:lstStyle/>
          <a:p>
            <a:pPr algn="l" indent="0" marL="0">
              <a:lnSpc>
                <a:spcPct val="88000"/>
              </a:lnSpc>
              <a:buNone/>
            </a:pPr>
            <a:r>
              <a:rPr lang="en-US" sz="3750" b="1" dirty="0">
                <a:solidFill>
                  <a:srgbClr val="FFFFFF"/>
                </a:solidFill>
                <a:latin typeface="Outfit Bold" pitchFamily="34" charset="0"/>
                <a:ea typeface="Outfit Bold" pitchFamily="34" charset="-122"/>
                <a:cs typeface="Outfit Bold" pitchFamily="34" charset="-120"/>
              </a:rPr>
              <a:t>Accelerating the Catalog: From 9 Days to 48 Hours</a:t>
            </a:r>
            <a:endParaRPr lang="en-US" sz="3750" dirty="0"/>
          </a:p>
        </p:txBody>
      </p:sp>
      <p:sp>
        <p:nvSpPr>
          <p:cNvPr id="6" name="Text 2"/>
          <p:cNvSpPr/>
          <p:nvPr/>
        </p:nvSpPr>
        <p:spPr>
          <a:xfrm>
            <a:off x="428625" y="3039275"/>
            <a:ext cx="5715000" cy="550069"/>
          </a:xfrm>
          <a:prstGeom prst="rect">
            <a:avLst/>
          </a:prstGeom>
          <a:noFill/>
          <a:ln/>
        </p:spPr>
        <p:txBody>
          <a:bodyPr wrap="square" lIns="0" tIns="0" rIns="0" bIns="0" rtlCol="0" anchor="t">
            <a:spAutoFit/>
          </a:bodyPr>
          <a:lstStyle/>
          <a:p>
            <a:pPr algn="l" indent="0" marL="0">
              <a:buNone/>
            </a:pPr>
            <a:r>
              <a:rPr lang="en-US" sz="1700" dirty="0">
                <a:solidFill>
                  <a:srgbClr val="94A3B8"/>
                </a:solidFill>
                <a:latin typeface="Inter" pitchFamily="34" charset="0"/>
                <a:ea typeface="Inter" pitchFamily="34" charset="-122"/>
                <a:cs typeface="Inter" pitchFamily="34" charset="-120"/>
              </a:rPr>
              <a:t>Capturing the Tuesday drop momentum by eliminating the manual listing wall.</a:t>
            </a:r>
            <a:endParaRPr lang="en-US" sz="1700" dirty="0"/>
          </a:p>
        </p:txBody>
      </p:sp>
      <p:sp>
        <p:nvSpPr>
          <p:cNvPr id="7" name="Text 3"/>
          <p:cNvSpPr/>
          <p:nvPr/>
        </p:nvSpPr>
        <p:spPr>
          <a:xfrm>
            <a:off x="428625" y="3932244"/>
            <a:ext cx="2578894" cy="289322"/>
          </a:xfrm>
          <a:prstGeom prst="rect">
            <a:avLst/>
          </a:prstGeom>
          <a:noFill/>
          <a:ln/>
        </p:spPr>
        <p:txBody>
          <a:bodyPr wrap="square" lIns="170053" tIns="0" rIns="0" bIns="0" rtlCol="0" anchor="t">
            <a:spAutoFit/>
          </a:bodyPr>
          <a:lstStyle/>
          <a:p>
            <a:pPr algn="l" indent="0" marL="0">
              <a:buNone/>
            </a:pPr>
            <a:r>
              <a:rPr lang="en-US" sz="1700" dirty="0">
                <a:solidFill>
                  <a:srgbClr val="D97706"/>
                </a:solidFill>
                <a:latin typeface="Outfit Bold" pitchFamily="34" charset="0"/>
                <a:ea typeface="Outfit Bold" pitchFamily="34" charset="-122"/>
                <a:cs typeface="Outfit Bold" pitchFamily="34" charset="-120"/>
              </a:rPr>
              <a:t>PROBLEM: 9-DAY LAG</a:t>
            </a:r>
            <a:endParaRPr lang="en-US" sz="1700" dirty="0"/>
          </a:p>
        </p:txBody>
      </p:sp>
      <p:sp>
        <p:nvSpPr>
          <p:cNvPr id="8" name="Text 4"/>
          <p:cNvSpPr/>
          <p:nvPr/>
        </p:nvSpPr>
        <p:spPr>
          <a:xfrm>
            <a:off x="3293269" y="3932244"/>
            <a:ext cx="2786063" cy="289322"/>
          </a:xfrm>
          <a:prstGeom prst="rect">
            <a:avLst/>
          </a:prstGeom>
          <a:noFill/>
          <a:ln/>
        </p:spPr>
        <p:txBody>
          <a:bodyPr wrap="square" lIns="170053" tIns="0" rIns="0" bIns="0" rtlCol="0" anchor="t">
            <a:spAutoFit/>
          </a:bodyPr>
          <a:lstStyle/>
          <a:p>
            <a:pPr algn="l" indent="0" marL="0">
              <a:buNone/>
            </a:pPr>
            <a:r>
              <a:rPr lang="en-US" sz="1700" dirty="0">
                <a:solidFill>
                  <a:srgbClr val="D97706"/>
                </a:solidFill>
                <a:latin typeface="Outfit Bold" pitchFamily="34" charset="0"/>
                <a:ea typeface="Outfit Bold" pitchFamily="34" charset="-122"/>
                <a:cs typeface="Outfit Bold" pitchFamily="34" charset="-120"/>
              </a:rPr>
              <a:t>GOAL: &lt; 2 DAY STAGING</a:t>
            </a:r>
            <a:endParaRPr lang="en-US" sz="1700" dirty="0"/>
          </a:p>
        </p:txBody>
      </p:sp>
      <p:sp>
        <p:nvSpPr>
          <p:cNvPr id="9" name="Text 5"/>
          <p:cNvSpPr/>
          <p:nvPr/>
        </p:nvSpPr>
        <p:spPr>
          <a:xfrm>
            <a:off x="428625" y="4593431"/>
            <a:ext cx="1318022" cy="121444"/>
          </a:xfrm>
          <a:prstGeom prst="rect">
            <a:avLst/>
          </a:prstGeom>
          <a:noFill/>
          <a:ln/>
        </p:spPr>
        <p:txBody>
          <a:bodyPr wrap="square" lIns="0" tIns="0" rIns="0" bIns="0" rtlCol="0" anchor="t">
            <a:spAutoFit/>
          </a:bodyPr>
          <a:lstStyle/>
          <a:p>
            <a:pPr algn="l" indent="0" marL="0">
              <a:buNone/>
            </a:pPr>
            <a:r>
              <a:rPr lang="en-US" sz="750" spc="2" kern="0" dirty="0">
                <a:solidFill>
                  <a:srgbClr val="64748B"/>
                </a:solidFill>
                <a:latin typeface="Inter" pitchFamily="34" charset="0"/>
                <a:ea typeface="Inter" pitchFamily="34" charset="-122"/>
                <a:cs typeface="Inter" pitchFamily="34" charset="-120"/>
              </a:rPr>
              <a:t>DHG-EXEC-SUMMARY</a:t>
            </a:r>
            <a:endParaRPr lang="en-US" sz="750" dirty="0"/>
          </a:p>
        </p:txBody>
      </p:sp>
      <p:sp>
        <p:nvSpPr>
          <p:cNvPr id="10" name="Text 6"/>
          <p:cNvSpPr/>
          <p:nvPr/>
        </p:nvSpPr>
        <p:spPr>
          <a:xfrm>
            <a:off x="8351044" y="4593431"/>
            <a:ext cx="364331"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dirty="0">
                <a:solidFill>
                  <a:srgbClr val="0F172A"/>
                </a:solidFill>
                <a:latin typeface="Outfit Bold" pitchFamily="34" charset="0"/>
                <a:ea typeface="Outfit Bold" pitchFamily="34" charset="-122"/>
                <a:cs typeface="Outfit Bold" pitchFamily="34" charset="-120"/>
              </a:rPr>
              <a:t>THE CATALOG BOTTLENECK</a:t>
            </a:r>
            <a:endParaRPr lang="en-US" sz="1600" dirty="0"/>
          </a:p>
        </p:txBody>
      </p:sp>
      <p:sp>
        <p:nvSpPr>
          <p:cNvPr id="5" name="Shape 1"/>
          <p:cNvSpPr/>
          <p:nvPr/>
        </p:nvSpPr>
        <p:spPr>
          <a:xfrm>
            <a:off x="428625" y="1032272"/>
            <a:ext cx="3929063" cy="3682603"/>
          </a:xfrm>
          <a:prstGeom prst="rect">
            <a:avLst/>
          </a:prstGeom>
          <a:solidFill>
            <a:srgbClr val="FFFFFF"/>
          </a:solidFill>
          <a:ln/>
        </p:spPr>
      </p:sp>
      <p:sp>
        <p:nvSpPr>
          <p:cNvPr id="6" name="Shape 2"/>
          <p:cNvSpPr/>
          <p:nvPr/>
        </p:nvSpPr>
        <p:spPr>
          <a:xfrm>
            <a:off x="428625" y="1032272"/>
            <a:ext cx="3929063" cy="28575"/>
          </a:xfrm>
          <a:prstGeom prst="rect">
            <a:avLst/>
          </a:prstGeom>
          <a:solidFill>
            <a:srgbClr val="0F172A"/>
          </a:solidFill>
          <a:ln/>
        </p:spPr>
      </p:sp>
      <p:sp>
        <p:nvSpPr>
          <p:cNvPr id="7" name="Shape 3"/>
          <p:cNvSpPr/>
          <p:nvPr/>
        </p:nvSpPr>
        <p:spPr>
          <a:xfrm>
            <a:off x="4350544" y="1032272"/>
            <a:ext cx="7144" cy="3682603"/>
          </a:xfrm>
          <a:prstGeom prst="rect">
            <a:avLst/>
          </a:prstGeom>
          <a:solidFill>
            <a:srgbClr val="E2E8F0"/>
          </a:solidFill>
          <a:ln/>
        </p:spPr>
      </p:sp>
      <p:sp>
        <p:nvSpPr>
          <p:cNvPr id="8" name="Shape 4"/>
          <p:cNvSpPr/>
          <p:nvPr/>
        </p:nvSpPr>
        <p:spPr>
          <a:xfrm>
            <a:off x="428625" y="4707731"/>
            <a:ext cx="3929063" cy="7144"/>
          </a:xfrm>
          <a:prstGeom prst="rect">
            <a:avLst/>
          </a:prstGeom>
          <a:solidFill>
            <a:srgbClr val="E2E8F0"/>
          </a:solidFill>
          <a:ln/>
        </p:spPr>
      </p:sp>
      <p:sp>
        <p:nvSpPr>
          <p:cNvPr id="9" name="Shape 5"/>
          <p:cNvSpPr/>
          <p:nvPr/>
        </p:nvSpPr>
        <p:spPr>
          <a:xfrm>
            <a:off x="428625" y="1032272"/>
            <a:ext cx="7144" cy="3682603"/>
          </a:xfrm>
          <a:prstGeom prst="rect">
            <a:avLst/>
          </a:prstGeom>
          <a:solidFill>
            <a:srgbClr val="E2E8F0"/>
          </a:solidFill>
          <a:ln/>
        </p:spPr>
      </p:sp>
      <p:sp>
        <p:nvSpPr>
          <p:cNvPr id="10" name="Text 6"/>
          <p:cNvSpPr/>
          <p:nvPr/>
        </p:nvSpPr>
        <p:spPr>
          <a:xfrm>
            <a:off x="714375" y="1318022"/>
            <a:ext cx="3357563" cy="157163"/>
          </a:xfrm>
          <a:prstGeom prst="rect">
            <a:avLst/>
          </a:prstGeom>
          <a:noFill/>
          <a:ln/>
        </p:spPr>
        <p:txBody>
          <a:bodyPr wrap="square" lIns="0" tIns="0" rIns="0" bIns="0" rtlCol="0" anchor="t">
            <a:spAutoFit/>
          </a:bodyPr>
          <a:lstStyle/>
          <a:p>
            <a:pPr algn="l" indent="0" marL="0">
              <a:buNone/>
            </a:pPr>
            <a:r>
              <a:rPr lang="en-US" sz="900" b="1" dirty="0">
                <a:solidFill>
                  <a:srgbClr val="D97706"/>
                </a:solidFill>
                <a:latin typeface="Inter Bold" pitchFamily="34" charset="0"/>
                <a:ea typeface="Inter Bold" pitchFamily="34" charset="-122"/>
                <a:cs typeface="Inter Bold" pitchFamily="34" charset="-120"/>
              </a:rPr>
              <a:t>OPERATIONAL REALITY</a:t>
            </a:r>
            <a:endParaRPr lang="en-US" sz="900" dirty="0"/>
          </a:p>
        </p:txBody>
      </p:sp>
      <p:sp>
        <p:nvSpPr>
          <p:cNvPr id="11" name="Text 7"/>
          <p:cNvSpPr/>
          <p:nvPr/>
        </p:nvSpPr>
        <p:spPr>
          <a:xfrm>
            <a:off x="714375" y="1618059"/>
            <a:ext cx="3357563" cy="503634"/>
          </a:xfrm>
          <a:prstGeom prst="rect">
            <a:avLst/>
          </a:prstGeom>
          <a:noFill/>
          <a:ln/>
        </p:spPr>
        <p:txBody>
          <a:bodyPr wrap="square" lIns="0" tIns="0" rIns="0" bIns="0" rtlCol="0" anchor="t">
            <a:spAutoFit/>
          </a:bodyPr>
          <a:lstStyle/>
          <a:p>
            <a:pPr algn="l" indent="0" marL="0">
              <a:buNone/>
            </a:pPr>
            <a:r>
              <a:rPr lang="en-US" sz="3050" dirty="0">
                <a:solidFill>
                  <a:srgbClr val="0F172A"/>
                </a:solidFill>
                <a:latin typeface="Outfit Bold" pitchFamily="34" charset="0"/>
                <a:ea typeface="Outfit Bold" pitchFamily="34" charset="-122"/>
                <a:cs typeface="Outfit Bold" pitchFamily="34" charset="-120"/>
              </a:rPr>
              <a:t>35 Mins/SKU</a:t>
            </a:r>
            <a:endParaRPr lang="en-US" sz="3050" dirty="0"/>
          </a:p>
        </p:txBody>
      </p:sp>
      <p:sp>
        <p:nvSpPr>
          <p:cNvPr id="12" name="Text 8"/>
          <p:cNvSpPr/>
          <p:nvPr/>
        </p:nvSpPr>
        <p:spPr>
          <a:xfrm>
            <a:off x="714375" y="2193131"/>
            <a:ext cx="3357563"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64748B"/>
                </a:solidFill>
                <a:latin typeface="Inter" pitchFamily="34" charset="0"/>
                <a:ea typeface="Inter" pitchFamily="34" charset="-122"/>
                <a:cs typeface="Inter" pitchFamily="34" charset="-120"/>
              </a:rPr>
              <a:t>Vivek’s team manually typing 60 attributes across messy WhatsApp texts, PDFs, and handwritten challans.</a:t>
            </a:r>
            <a:endParaRPr lang="en-US" sz="950" dirty="0"/>
          </a:p>
        </p:txBody>
      </p:sp>
      <p:sp>
        <p:nvSpPr>
          <p:cNvPr id="13" name="Shape 9"/>
          <p:cNvSpPr/>
          <p:nvPr/>
        </p:nvSpPr>
        <p:spPr>
          <a:xfrm>
            <a:off x="714375" y="3024597"/>
            <a:ext cx="3357563" cy="425053"/>
          </a:xfrm>
          <a:prstGeom prst="rect">
            <a:avLst/>
          </a:prstGeom>
          <a:solidFill>
            <a:srgbClr val="FFF7ED"/>
          </a:solidFill>
          <a:ln/>
        </p:spPr>
      </p:sp>
      <p:sp>
        <p:nvSpPr>
          <p:cNvPr id="14" name="Shape 10"/>
          <p:cNvSpPr/>
          <p:nvPr/>
        </p:nvSpPr>
        <p:spPr>
          <a:xfrm>
            <a:off x="714375" y="3024597"/>
            <a:ext cx="28575" cy="425053"/>
          </a:xfrm>
          <a:prstGeom prst="rect">
            <a:avLst/>
          </a:prstGeom>
          <a:solidFill>
            <a:srgbClr val="D97706"/>
          </a:solidFill>
          <a:ln/>
        </p:spPr>
      </p:sp>
      <p:sp>
        <p:nvSpPr>
          <p:cNvPr id="15" name="Text 11"/>
          <p:cNvSpPr/>
          <p:nvPr/>
        </p:nvSpPr>
        <p:spPr>
          <a:xfrm>
            <a:off x="857250" y="3167472"/>
            <a:ext cx="3071813" cy="139303"/>
          </a:xfrm>
          <a:prstGeom prst="rect">
            <a:avLst/>
          </a:prstGeom>
          <a:noFill/>
          <a:ln/>
        </p:spPr>
        <p:txBody>
          <a:bodyPr wrap="square" lIns="0" tIns="0" rIns="0" bIns="0" rtlCol="0" anchor="t">
            <a:spAutoFit/>
          </a:bodyPr>
          <a:lstStyle/>
          <a:p>
            <a:pPr algn="l" indent="0" marL="0">
              <a:buNone/>
            </a:pPr>
            <a:r>
              <a:rPr lang="en-US" sz="800" b="1" dirty="0">
                <a:solidFill>
                  <a:srgbClr val="9A3412"/>
                </a:solidFill>
                <a:latin typeface="Inter Bold" pitchFamily="34" charset="0"/>
                <a:ea typeface="Inter Bold" pitchFamily="34" charset="-122"/>
                <a:cs typeface="Inter Bold" pitchFamily="34" charset="-120"/>
              </a:rPr>
              <a:t>Result: 6–9 days from studio sample to live app.</a:t>
            </a:r>
            <a:endParaRPr lang="en-US" sz="800" dirty="0"/>
          </a:p>
        </p:txBody>
      </p:sp>
      <p:sp>
        <p:nvSpPr>
          <p:cNvPr id="16" name="Text 12"/>
          <p:cNvSpPr/>
          <p:nvPr/>
        </p:nvSpPr>
        <p:spPr>
          <a:xfrm>
            <a:off x="4979808" y="1032272"/>
            <a:ext cx="700088" cy="175022"/>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Inter Bold" pitchFamily="34" charset="0"/>
                <a:ea typeface="Inter Bold" pitchFamily="34" charset="-122"/>
                <a:cs typeface="Inter Bold" pitchFamily="34" charset="-120"/>
              </a:rPr>
              <a:t>400 SKUs</a:t>
            </a:r>
            <a:endParaRPr lang="en-US" sz="1000" dirty="0"/>
          </a:p>
        </p:txBody>
      </p:sp>
      <p:sp>
        <p:nvSpPr>
          <p:cNvPr id="17" name="Text 13"/>
          <p:cNvSpPr/>
          <p:nvPr/>
        </p:nvSpPr>
        <p:spPr>
          <a:xfrm>
            <a:off x="5679895" y="1032272"/>
            <a:ext cx="2796778" cy="175022"/>
          </a:xfrm>
          <a:prstGeom prst="rect">
            <a:avLst/>
          </a:prstGeom>
          <a:noFill/>
          <a:ln/>
        </p:spPr>
        <p:txBody>
          <a:bodyPr wrap="square" lIns="0" tIns="0" rIns="0" bIns="0" rtlCol="0" anchor="t">
            <a:spAutoFit/>
          </a:bodyPr>
          <a:lstStyle/>
          <a:p>
            <a:pPr algn="l" indent="0" marL="0">
              <a:buNone/>
            </a:pPr>
            <a:r>
              <a:rPr lang="en-US" sz="1050" dirty="0">
                <a:solidFill>
                  <a:srgbClr val="334155"/>
                </a:solidFill>
                <a:latin typeface="Inter" pitchFamily="34" charset="0"/>
                <a:ea typeface="Inter" pitchFamily="34" charset="-122"/>
                <a:cs typeface="Inter" pitchFamily="34" charset="-120"/>
              </a:rPr>
              <a:t>arriving weekly from Tiruppur and Jaipur.</a:t>
            </a:r>
            <a:endParaRPr lang="en-US" sz="1050" dirty="0"/>
          </a:p>
        </p:txBody>
      </p:sp>
      <p:sp>
        <p:nvSpPr>
          <p:cNvPr id="18" name="Text 14"/>
          <p:cNvSpPr/>
          <p:nvPr/>
        </p:nvSpPr>
        <p:spPr>
          <a:xfrm>
            <a:off x="4979808" y="1378744"/>
            <a:ext cx="636352" cy="350044"/>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Inter Bold" pitchFamily="34" charset="0"/>
                <a:ea typeface="Inter Bold" pitchFamily="34" charset="-122"/>
                <a:cs typeface="Inter Bold" pitchFamily="34" charset="-120"/>
              </a:rPr>
              <a:t>Listing Wall:</a:t>
            </a:r>
            <a:endParaRPr lang="en-US" sz="1000" dirty="0"/>
          </a:p>
        </p:txBody>
      </p:sp>
      <p:sp>
        <p:nvSpPr>
          <p:cNvPr id="19" name="Text 15"/>
          <p:cNvSpPr/>
          <p:nvPr/>
        </p:nvSpPr>
        <p:spPr>
          <a:xfrm>
            <a:off x="5616160" y="1378744"/>
            <a:ext cx="3099215" cy="350044"/>
          </a:xfrm>
          <a:prstGeom prst="rect">
            <a:avLst/>
          </a:prstGeom>
          <a:noFill/>
          <a:ln/>
        </p:spPr>
        <p:txBody>
          <a:bodyPr wrap="square" lIns="0" tIns="0" rIns="0" bIns="0" rtlCol="0" anchor="t">
            <a:spAutoFit/>
          </a:bodyPr>
          <a:lstStyle/>
          <a:p>
            <a:pPr algn="l" indent="0" marL="0">
              <a:buNone/>
            </a:pPr>
            <a:r>
              <a:rPr lang="en-US" sz="1050" dirty="0">
                <a:solidFill>
                  <a:srgbClr val="334155"/>
                </a:solidFill>
                <a:latin typeface="Inter" pitchFamily="34" charset="0"/>
                <a:ea typeface="Inter" pitchFamily="34" charset="-122"/>
                <a:cs typeface="Inter" pitchFamily="34" charset="-120"/>
              </a:rPr>
              <a:t>6 agents typing strings like "rani pink" vs "magenta" by hand.</a:t>
            </a:r>
            <a:endParaRPr lang="en-US" sz="1050" dirty="0"/>
          </a:p>
        </p:txBody>
      </p:sp>
      <p:sp>
        <p:nvSpPr>
          <p:cNvPr id="20" name="Text 16"/>
          <p:cNvSpPr/>
          <p:nvPr/>
        </p:nvSpPr>
        <p:spPr>
          <a:xfrm>
            <a:off x="4979808" y="1900238"/>
            <a:ext cx="1032272" cy="175022"/>
          </a:xfrm>
          <a:prstGeom prst="rect">
            <a:avLst/>
          </a:prstGeom>
          <a:noFill/>
          <a:ln/>
        </p:spPr>
        <p:txBody>
          <a:bodyPr wrap="none" lIns="0" tIns="0" rIns="0" bIns="0" rtlCol="0" anchor="t">
            <a:spAutoFit/>
          </a:bodyPr>
          <a:lstStyle/>
          <a:p>
            <a:pPr algn="l" indent="0" marL="0">
              <a:buNone/>
            </a:pPr>
            <a:r>
              <a:rPr lang="en-US" sz="1000" b="1" dirty="0">
                <a:solidFill>
                  <a:srgbClr val="334155"/>
                </a:solidFill>
                <a:latin typeface="Inter Bold" pitchFamily="34" charset="0"/>
                <a:ea typeface="Inter Bold" pitchFamily="34" charset="-122"/>
                <a:cs typeface="Inter Bold" pitchFamily="34" charset="-120"/>
              </a:rPr>
              <a:t>Inconsistency:</a:t>
            </a:r>
            <a:endParaRPr lang="en-US" sz="1000" dirty="0"/>
          </a:p>
        </p:txBody>
      </p:sp>
      <p:sp>
        <p:nvSpPr>
          <p:cNvPr id="21" name="Text 17"/>
          <p:cNvSpPr/>
          <p:nvPr/>
        </p:nvSpPr>
        <p:spPr>
          <a:xfrm>
            <a:off x="6012080" y="1900238"/>
            <a:ext cx="2703295" cy="350044"/>
          </a:xfrm>
          <a:prstGeom prst="rect">
            <a:avLst/>
          </a:prstGeom>
          <a:noFill/>
          <a:ln/>
        </p:spPr>
        <p:txBody>
          <a:bodyPr wrap="square" lIns="0" tIns="0" rIns="0" bIns="0" rtlCol="0" anchor="t">
            <a:spAutoFit/>
          </a:bodyPr>
          <a:lstStyle/>
          <a:p>
            <a:pPr algn="l" indent="0" marL="0">
              <a:buNone/>
            </a:pPr>
            <a:r>
              <a:rPr lang="en-US" sz="1050" dirty="0">
                <a:solidFill>
                  <a:srgbClr val="334155"/>
                </a:solidFill>
                <a:latin typeface="Inter" pitchFamily="34" charset="0"/>
                <a:ea typeface="Inter" pitchFamily="34" charset="-122"/>
                <a:cs typeface="Inter" pitchFamily="34" charset="-120"/>
              </a:rPr>
              <a:t>Tone drifts between writers; search filter pills break for 92% of shoppers.</a:t>
            </a:r>
            <a:endParaRPr lang="en-US" sz="1050" dirty="0"/>
          </a:p>
        </p:txBody>
      </p:sp>
      <p:sp>
        <p:nvSpPr>
          <p:cNvPr id="22" name="Text 18"/>
          <p:cNvSpPr/>
          <p:nvPr/>
        </p:nvSpPr>
        <p:spPr>
          <a:xfrm>
            <a:off x="428625" y="4736306"/>
            <a:ext cx="116800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DHG-SYS-BOTTLENECK</a:t>
            </a:r>
            <a:endParaRPr lang="en-US" sz="750" dirty="0"/>
          </a:p>
        </p:txBody>
      </p:sp>
      <p:sp>
        <p:nvSpPr>
          <p:cNvPr id="23" name="Text 19"/>
          <p:cNvSpPr/>
          <p:nvPr/>
        </p:nvSpPr>
        <p:spPr>
          <a:xfrm>
            <a:off x="8329613" y="4736306"/>
            <a:ext cx="38576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dirty="0">
                <a:solidFill>
                  <a:srgbClr val="0F172A"/>
                </a:solidFill>
                <a:latin typeface="Outfit Bold" pitchFamily="34" charset="0"/>
                <a:ea typeface="Outfit Bold" pitchFamily="34" charset="-122"/>
                <a:cs typeface="Outfit Bold" pitchFamily="34" charset="-120"/>
              </a:rPr>
              <a:t>WHY IT MATTERS TODAY</a:t>
            </a:r>
            <a:endParaRPr lang="en-US" sz="1600" dirty="0"/>
          </a:p>
        </p:txBody>
      </p:sp>
      <p:sp>
        <p:nvSpPr>
          <p:cNvPr id="5" name="Shape 1"/>
          <p:cNvSpPr/>
          <p:nvPr/>
        </p:nvSpPr>
        <p:spPr>
          <a:xfrm>
            <a:off x="428625" y="1032272"/>
            <a:ext cx="2619356" cy="3682603"/>
          </a:xfrm>
          <a:prstGeom prst="rect">
            <a:avLst/>
          </a:prstGeom>
          <a:solidFill>
            <a:srgbClr val="FFFFFF"/>
          </a:solidFill>
          <a:ln/>
        </p:spPr>
      </p:sp>
      <p:sp>
        <p:nvSpPr>
          <p:cNvPr id="6" name="Shape 2"/>
          <p:cNvSpPr/>
          <p:nvPr/>
        </p:nvSpPr>
        <p:spPr>
          <a:xfrm>
            <a:off x="428625" y="1032272"/>
            <a:ext cx="2619356" cy="28575"/>
          </a:xfrm>
          <a:prstGeom prst="rect">
            <a:avLst/>
          </a:prstGeom>
          <a:solidFill>
            <a:srgbClr val="D97706"/>
          </a:solidFill>
          <a:ln/>
        </p:spPr>
      </p:sp>
      <p:sp>
        <p:nvSpPr>
          <p:cNvPr id="7" name="Shape 3"/>
          <p:cNvSpPr/>
          <p:nvPr/>
        </p:nvSpPr>
        <p:spPr>
          <a:xfrm>
            <a:off x="3040838" y="1032272"/>
            <a:ext cx="7144" cy="3682603"/>
          </a:xfrm>
          <a:prstGeom prst="rect">
            <a:avLst/>
          </a:prstGeom>
          <a:solidFill>
            <a:srgbClr val="E2E8F0"/>
          </a:solidFill>
          <a:ln/>
        </p:spPr>
      </p:sp>
      <p:sp>
        <p:nvSpPr>
          <p:cNvPr id="8" name="Shape 4"/>
          <p:cNvSpPr/>
          <p:nvPr/>
        </p:nvSpPr>
        <p:spPr>
          <a:xfrm>
            <a:off x="428625" y="4707731"/>
            <a:ext cx="2619356" cy="7144"/>
          </a:xfrm>
          <a:prstGeom prst="rect">
            <a:avLst/>
          </a:prstGeom>
          <a:solidFill>
            <a:srgbClr val="E2E8F0"/>
          </a:solidFill>
          <a:ln/>
        </p:spPr>
      </p:sp>
      <p:sp>
        <p:nvSpPr>
          <p:cNvPr id="9" name="Shape 5"/>
          <p:cNvSpPr/>
          <p:nvPr/>
        </p:nvSpPr>
        <p:spPr>
          <a:xfrm>
            <a:off x="428625" y="1032272"/>
            <a:ext cx="7144" cy="3682603"/>
          </a:xfrm>
          <a:prstGeom prst="rect">
            <a:avLst/>
          </a:prstGeom>
          <a:solidFill>
            <a:srgbClr val="E2E8F0"/>
          </a:solidFill>
          <a:ln/>
        </p:spPr>
      </p:sp>
      <p:sp>
        <p:nvSpPr>
          <p:cNvPr id="10" name="Text 6"/>
          <p:cNvSpPr/>
          <p:nvPr/>
        </p:nvSpPr>
        <p:spPr>
          <a:xfrm>
            <a:off x="714375" y="1318022"/>
            <a:ext cx="2047856" cy="192881"/>
          </a:xfrm>
          <a:prstGeom prst="rect">
            <a:avLst/>
          </a:prstGeom>
          <a:noFill/>
          <a:ln/>
        </p:spPr>
        <p:txBody>
          <a:bodyPr wrap="square" lIns="0" tIns="0" rIns="0" bIns="0" rtlCol="0" anchor="t">
            <a:spAutoFit/>
          </a:bodyPr>
          <a:lstStyle/>
          <a:p>
            <a:pPr algn="l" indent="0" marL="0">
              <a:buNone/>
            </a:pPr>
            <a:r>
              <a:rPr lang="en-US" sz="1100" b="1" dirty="0">
                <a:solidFill>
                  <a:srgbClr val="0F172A"/>
                </a:solidFill>
                <a:latin typeface="Inter Bold" pitchFamily="34" charset="0"/>
                <a:ea typeface="Inter Bold" pitchFamily="34" charset="-122"/>
                <a:cs typeface="Inter Bold" pitchFamily="34" charset="-120"/>
              </a:rPr>
              <a:t>Trapped Capital</a:t>
            </a:r>
            <a:endParaRPr lang="en-US" sz="1100" dirty="0"/>
          </a:p>
        </p:txBody>
      </p:sp>
      <p:sp>
        <p:nvSpPr>
          <p:cNvPr id="11" name="Text 7"/>
          <p:cNvSpPr/>
          <p:nvPr/>
        </p:nvSpPr>
        <p:spPr>
          <a:xfrm>
            <a:off x="714375" y="1796653"/>
            <a:ext cx="2047856" cy="432197"/>
          </a:xfrm>
          <a:prstGeom prst="rect">
            <a:avLst/>
          </a:prstGeom>
          <a:noFill/>
          <a:ln/>
        </p:spPr>
        <p:txBody>
          <a:bodyPr wrap="square" lIns="0" tIns="0" rIns="0" bIns="0" rtlCol="0" anchor="t">
            <a:spAutoFit/>
          </a:bodyPr>
          <a:lstStyle/>
          <a:p>
            <a:pPr algn="l" indent="0" marL="0">
              <a:buNone/>
            </a:pPr>
            <a:r>
              <a:rPr lang="en-US" sz="2600" dirty="0">
                <a:solidFill>
                  <a:srgbClr val="0F172A"/>
                </a:solidFill>
                <a:latin typeface="Outfit Bold" pitchFamily="34" charset="0"/>
                <a:ea typeface="Outfit Bold" pitchFamily="34" charset="-122"/>
                <a:cs typeface="Outfit Bold" pitchFamily="34" charset="-120"/>
              </a:rPr>
              <a:t>6-Week Pull</a:t>
            </a:r>
            <a:endParaRPr lang="en-US" sz="2600" dirty="0"/>
          </a:p>
        </p:txBody>
      </p:sp>
      <p:sp>
        <p:nvSpPr>
          <p:cNvPr id="12" name="Text 8"/>
          <p:cNvSpPr/>
          <p:nvPr/>
        </p:nvSpPr>
        <p:spPr>
          <a:xfrm>
            <a:off x="714375" y="2371725"/>
            <a:ext cx="204785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64748B"/>
                </a:solidFill>
                <a:latin typeface="Inter" pitchFamily="34" charset="0"/>
                <a:ea typeface="Inter" pitchFamily="34" charset="-122"/>
                <a:cs typeface="Inter" pitchFamily="34" charset="-120"/>
              </a:rPr>
              <a:t>Inventory depreciation accelerates every day a SKU sits in listing purgatory.</a:t>
            </a:r>
            <a:endParaRPr lang="en-US" sz="950" dirty="0"/>
          </a:p>
        </p:txBody>
      </p:sp>
      <p:sp>
        <p:nvSpPr>
          <p:cNvPr id="13" name="Shape 9"/>
          <p:cNvSpPr/>
          <p:nvPr/>
        </p:nvSpPr>
        <p:spPr>
          <a:xfrm>
            <a:off x="3262294" y="1032272"/>
            <a:ext cx="2619356" cy="3682603"/>
          </a:xfrm>
          <a:prstGeom prst="rect">
            <a:avLst/>
          </a:prstGeom>
          <a:solidFill>
            <a:srgbClr val="FFFFFF"/>
          </a:solidFill>
          <a:ln/>
        </p:spPr>
      </p:sp>
      <p:sp>
        <p:nvSpPr>
          <p:cNvPr id="14" name="Shape 10"/>
          <p:cNvSpPr/>
          <p:nvPr/>
        </p:nvSpPr>
        <p:spPr>
          <a:xfrm>
            <a:off x="3262294" y="1032272"/>
            <a:ext cx="2619356" cy="28575"/>
          </a:xfrm>
          <a:prstGeom prst="rect">
            <a:avLst/>
          </a:prstGeom>
          <a:solidFill>
            <a:srgbClr val="D97706"/>
          </a:solidFill>
          <a:ln/>
        </p:spPr>
      </p:sp>
      <p:sp>
        <p:nvSpPr>
          <p:cNvPr id="15" name="Shape 11"/>
          <p:cNvSpPr/>
          <p:nvPr/>
        </p:nvSpPr>
        <p:spPr>
          <a:xfrm>
            <a:off x="5874507" y="1032272"/>
            <a:ext cx="7144" cy="3682603"/>
          </a:xfrm>
          <a:prstGeom prst="rect">
            <a:avLst/>
          </a:prstGeom>
          <a:solidFill>
            <a:srgbClr val="E2E8F0"/>
          </a:solidFill>
          <a:ln/>
        </p:spPr>
      </p:sp>
      <p:sp>
        <p:nvSpPr>
          <p:cNvPr id="16" name="Shape 12"/>
          <p:cNvSpPr/>
          <p:nvPr/>
        </p:nvSpPr>
        <p:spPr>
          <a:xfrm>
            <a:off x="3262294" y="4707731"/>
            <a:ext cx="2619356" cy="7144"/>
          </a:xfrm>
          <a:prstGeom prst="rect">
            <a:avLst/>
          </a:prstGeom>
          <a:solidFill>
            <a:srgbClr val="E2E8F0"/>
          </a:solidFill>
          <a:ln/>
        </p:spPr>
      </p:sp>
      <p:sp>
        <p:nvSpPr>
          <p:cNvPr id="17" name="Shape 13"/>
          <p:cNvSpPr/>
          <p:nvPr/>
        </p:nvSpPr>
        <p:spPr>
          <a:xfrm>
            <a:off x="3262294" y="1032272"/>
            <a:ext cx="7144" cy="3682603"/>
          </a:xfrm>
          <a:prstGeom prst="rect">
            <a:avLst/>
          </a:prstGeom>
          <a:solidFill>
            <a:srgbClr val="E2E8F0"/>
          </a:solidFill>
          <a:ln/>
        </p:spPr>
      </p:sp>
      <p:sp>
        <p:nvSpPr>
          <p:cNvPr id="18" name="Text 14"/>
          <p:cNvSpPr/>
          <p:nvPr/>
        </p:nvSpPr>
        <p:spPr>
          <a:xfrm>
            <a:off x="3548044" y="1318022"/>
            <a:ext cx="2047856" cy="192881"/>
          </a:xfrm>
          <a:prstGeom prst="rect">
            <a:avLst/>
          </a:prstGeom>
          <a:noFill/>
          <a:ln/>
        </p:spPr>
        <p:txBody>
          <a:bodyPr wrap="square" lIns="0" tIns="0" rIns="0" bIns="0" rtlCol="0" anchor="t">
            <a:spAutoFit/>
          </a:bodyPr>
          <a:lstStyle/>
          <a:p>
            <a:pPr algn="l" indent="0" marL="0">
              <a:buNone/>
            </a:pPr>
            <a:r>
              <a:rPr lang="en-US" sz="1100" b="1" dirty="0">
                <a:solidFill>
                  <a:srgbClr val="0F172A"/>
                </a:solidFill>
                <a:latin typeface="Inter Bold" pitchFamily="34" charset="0"/>
                <a:ea typeface="Inter Bold" pitchFamily="34" charset="-122"/>
                <a:cs typeface="Inter Bold" pitchFamily="34" charset="-120"/>
              </a:rPr>
              <a:t>Return Rates</a:t>
            </a:r>
            <a:endParaRPr lang="en-US" sz="1100" dirty="0"/>
          </a:p>
        </p:txBody>
      </p:sp>
      <p:sp>
        <p:nvSpPr>
          <p:cNvPr id="19" name="Text 15"/>
          <p:cNvSpPr/>
          <p:nvPr/>
        </p:nvSpPr>
        <p:spPr>
          <a:xfrm>
            <a:off x="3548044" y="1796653"/>
            <a:ext cx="2047856" cy="432197"/>
          </a:xfrm>
          <a:prstGeom prst="rect">
            <a:avLst/>
          </a:prstGeom>
          <a:noFill/>
          <a:ln/>
        </p:spPr>
        <p:txBody>
          <a:bodyPr wrap="square" lIns="0" tIns="0" rIns="0" bIns="0" rtlCol="0" anchor="t">
            <a:spAutoFit/>
          </a:bodyPr>
          <a:lstStyle/>
          <a:p>
            <a:pPr algn="l" indent="0" marL="0">
              <a:buNone/>
            </a:pPr>
            <a:r>
              <a:rPr lang="en-US" sz="2600" dirty="0">
                <a:solidFill>
                  <a:srgbClr val="0F172A"/>
                </a:solidFill>
                <a:latin typeface="Outfit Bold" pitchFamily="34" charset="0"/>
                <a:ea typeface="Outfit Bold" pitchFamily="34" charset="-122"/>
                <a:cs typeface="Outfit Bold" pitchFamily="34" charset="-120"/>
              </a:rPr>
              <a:t>28% Driven</a:t>
            </a:r>
            <a:endParaRPr lang="en-US" sz="2600" dirty="0"/>
          </a:p>
        </p:txBody>
      </p:sp>
      <p:sp>
        <p:nvSpPr>
          <p:cNvPr id="20" name="Text 16"/>
          <p:cNvSpPr/>
          <p:nvPr/>
        </p:nvSpPr>
        <p:spPr>
          <a:xfrm>
            <a:off x="3548044" y="2371725"/>
            <a:ext cx="204785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64748B"/>
                </a:solidFill>
                <a:latin typeface="Inter" pitchFamily="34" charset="0"/>
                <a:ea typeface="Inter" pitchFamily="34" charset="-122"/>
                <a:cs typeface="Inter" pitchFamily="34" charset="-120"/>
              </a:rPr>
              <a:t>Return rate driven by fabric disputes and inconsistent care instructions at intake.</a:t>
            </a:r>
            <a:endParaRPr lang="en-US" sz="950" dirty="0"/>
          </a:p>
        </p:txBody>
      </p:sp>
      <p:sp>
        <p:nvSpPr>
          <p:cNvPr id="21" name="Shape 17"/>
          <p:cNvSpPr/>
          <p:nvPr/>
        </p:nvSpPr>
        <p:spPr>
          <a:xfrm>
            <a:off x="6095963" y="1032272"/>
            <a:ext cx="2619356" cy="3682603"/>
          </a:xfrm>
          <a:prstGeom prst="rect">
            <a:avLst/>
          </a:prstGeom>
          <a:solidFill>
            <a:srgbClr val="FFFFFF"/>
          </a:solidFill>
          <a:ln/>
        </p:spPr>
      </p:sp>
      <p:sp>
        <p:nvSpPr>
          <p:cNvPr id="22" name="Shape 18"/>
          <p:cNvSpPr/>
          <p:nvPr/>
        </p:nvSpPr>
        <p:spPr>
          <a:xfrm>
            <a:off x="6095963" y="1032272"/>
            <a:ext cx="2619356" cy="28575"/>
          </a:xfrm>
          <a:prstGeom prst="rect">
            <a:avLst/>
          </a:prstGeom>
          <a:solidFill>
            <a:srgbClr val="D97706"/>
          </a:solidFill>
          <a:ln/>
        </p:spPr>
      </p:sp>
      <p:sp>
        <p:nvSpPr>
          <p:cNvPr id="23" name="Shape 19"/>
          <p:cNvSpPr/>
          <p:nvPr/>
        </p:nvSpPr>
        <p:spPr>
          <a:xfrm>
            <a:off x="8708175" y="1032272"/>
            <a:ext cx="7144" cy="3682603"/>
          </a:xfrm>
          <a:prstGeom prst="rect">
            <a:avLst/>
          </a:prstGeom>
          <a:solidFill>
            <a:srgbClr val="E2E8F0"/>
          </a:solidFill>
          <a:ln/>
        </p:spPr>
      </p:sp>
      <p:sp>
        <p:nvSpPr>
          <p:cNvPr id="24" name="Shape 20"/>
          <p:cNvSpPr/>
          <p:nvPr/>
        </p:nvSpPr>
        <p:spPr>
          <a:xfrm>
            <a:off x="6095963" y="4707731"/>
            <a:ext cx="2619356" cy="7144"/>
          </a:xfrm>
          <a:prstGeom prst="rect">
            <a:avLst/>
          </a:prstGeom>
          <a:solidFill>
            <a:srgbClr val="E2E8F0"/>
          </a:solidFill>
          <a:ln/>
        </p:spPr>
      </p:sp>
      <p:sp>
        <p:nvSpPr>
          <p:cNvPr id="25" name="Shape 21"/>
          <p:cNvSpPr/>
          <p:nvPr/>
        </p:nvSpPr>
        <p:spPr>
          <a:xfrm>
            <a:off x="6095963" y="1032272"/>
            <a:ext cx="7144" cy="3682603"/>
          </a:xfrm>
          <a:prstGeom prst="rect">
            <a:avLst/>
          </a:prstGeom>
          <a:solidFill>
            <a:srgbClr val="E2E8F0"/>
          </a:solidFill>
          <a:ln/>
        </p:spPr>
      </p:sp>
      <p:sp>
        <p:nvSpPr>
          <p:cNvPr id="26" name="Text 22"/>
          <p:cNvSpPr/>
          <p:nvPr/>
        </p:nvSpPr>
        <p:spPr>
          <a:xfrm>
            <a:off x="6381713" y="1318022"/>
            <a:ext cx="2047856" cy="192881"/>
          </a:xfrm>
          <a:prstGeom prst="rect">
            <a:avLst/>
          </a:prstGeom>
          <a:noFill/>
          <a:ln/>
        </p:spPr>
        <p:txBody>
          <a:bodyPr wrap="square" lIns="0" tIns="0" rIns="0" bIns="0" rtlCol="0" anchor="t">
            <a:spAutoFit/>
          </a:bodyPr>
          <a:lstStyle/>
          <a:p>
            <a:pPr algn="l" indent="0" marL="0">
              <a:buNone/>
            </a:pPr>
            <a:r>
              <a:rPr lang="en-US" sz="1100" b="1" dirty="0">
                <a:solidFill>
                  <a:srgbClr val="0F172A"/>
                </a:solidFill>
                <a:latin typeface="Inter Bold" pitchFamily="34" charset="0"/>
                <a:ea typeface="Inter Bold" pitchFamily="34" charset="-122"/>
                <a:cs typeface="Inter Bold" pitchFamily="34" charset="-120"/>
              </a:rPr>
              <a:t>Target Standard</a:t>
            </a:r>
            <a:endParaRPr lang="en-US" sz="1100" dirty="0"/>
          </a:p>
        </p:txBody>
      </p:sp>
      <p:sp>
        <p:nvSpPr>
          <p:cNvPr id="27" name="Text 23"/>
          <p:cNvSpPr/>
          <p:nvPr/>
        </p:nvSpPr>
        <p:spPr>
          <a:xfrm>
            <a:off x="6381713" y="1796653"/>
            <a:ext cx="2047856" cy="432197"/>
          </a:xfrm>
          <a:prstGeom prst="rect">
            <a:avLst/>
          </a:prstGeom>
          <a:noFill/>
          <a:ln/>
        </p:spPr>
        <p:txBody>
          <a:bodyPr wrap="square" lIns="0" tIns="0" rIns="0" bIns="0" rtlCol="0" anchor="t">
            <a:spAutoFit/>
          </a:bodyPr>
          <a:lstStyle/>
          <a:p>
            <a:pPr algn="l" indent="0" marL="0">
              <a:buNone/>
            </a:pPr>
            <a:r>
              <a:rPr lang="en-US" sz="2600" dirty="0">
                <a:solidFill>
                  <a:srgbClr val="0F172A"/>
                </a:solidFill>
                <a:latin typeface="Outfit Bold" pitchFamily="34" charset="0"/>
                <a:ea typeface="Outfit Bold" pitchFamily="34" charset="-122"/>
                <a:cs typeface="Outfit Bold" pitchFamily="34" charset="-120"/>
              </a:rPr>
              <a:t>2 Days</a:t>
            </a:r>
            <a:endParaRPr lang="en-US" sz="2600" dirty="0"/>
          </a:p>
        </p:txBody>
      </p:sp>
      <p:sp>
        <p:nvSpPr>
          <p:cNvPr id="28" name="Text 24"/>
          <p:cNvSpPr/>
          <p:nvPr/>
        </p:nvSpPr>
        <p:spPr>
          <a:xfrm>
            <a:off x="6381713" y="2371725"/>
            <a:ext cx="204785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64748B"/>
                </a:solidFill>
                <a:latin typeface="Inter" pitchFamily="34" charset="0"/>
                <a:ea typeface="Inter" pitchFamily="34" charset="-122"/>
                <a:cs typeface="Inter" pitchFamily="34" charset="-120"/>
              </a:rPr>
              <a:t>Listing agent touch time reduced by 85%. Scaling from 400 to 1,000 SKUs without hiring.</a:t>
            </a:r>
            <a:endParaRPr lang="en-US" sz="950" dirty="0"/>
          </a:p>
        </p:txBody>
      </p:sp>
      <p:sp>
        <p:nvSpPr>
          <p:cNvPr id="29" name="Text 25"/>
          <p:cNvSpPr/>
          <p:nvPr/>
        </p:nvSpPr>
        <p:spPr>
          <a:xfrm>
            <a:off x="428625" y="4736306"/>
            <a:ext cx="1278731"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DHG-STRAT-IMPORTANCE</a:t>
            </a:r>
            <a:endParaRPr lang="en-US" sz="750" dirty="0"/>
          </a:p>
        </p:txBody>
      </p:sp>
      <p:sp>
        <p:nvSpPr>
          <p:cNvPr id="30" name="Text 26"/>
          <p:cNvSpPr/>
          <p:nvPr/>
        </p:nvSpPr>
        <p:spPr>
          <a:xfrm>
            <a:off x="8329613" y="4736306"/>
            <a:ext cx="38576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spc="1" kern="0" dirty="0">
                <a:solidFill>
                  <a:srgbClr val="0F172A"/>
                </a:solidFill>
                <a:latin typeface="Outfit Bold" pitchFamily="34" charset="0"/>
                <a:ea typeface="Outfit Bold" pitchFamily="34" charset="-122"/>
                <a:cs typeface="Outfit Bold" pitchFamily="34" charset="-120"/>
              </a:rPr>
              <a:t>ONE WORKBENCH, FOUR INCOMING GARMENTS</a:t>
            </a:r>
            <a:endParaRPr lang="en-US" sz="1600" dirty="0"/>
          </a:p>
        </p:txBody>
      </p:sp>
      <p:sp>
        <p:nvSpPr>
          <p:cNvPr id="5" name="Shape 1"/>
          <p:cNvSpPr/>
          <p:nvPr/>
        </p:nvSpPr>
        <p:spPr>
          <a:xfrm>
            <a:off x="1143000" y="2945011"/>
            <a:ext cx="6858000" cy="14288"/>
          </a:xfrm>
          <a:prstGeom prst="rect">
            <a:avLst/>
          </a:prstGeom>
          <a:solidFill>
            <a:srgbClr val="E2E8F0"/>
          </a:solidFill>
          <a:ln/>
        </p:spPr>
      </p:sp>
      <p:sp>
        <p:nvSpPr>
          <p:cNvPr id="6" name="Shape 2"/>
          <p:cNvSpPr/>
          <p:nvPr/>
        </p:nvSpPr>
        <p:spPr>
          <a:xfrm>
            <a:off x="1143000" y="2224553"/>
            <a:ext cx="571500" cy="571500"/>
          </a:xfrm>
          <a:prstGeom prst="rect">
            <a:avLst/>
          </a:prstGeom>
          <a:solidFill>
            <a:srgbClr val="0F172A"/>
          </a:solidFill>
          <a:ln w="27432">
            <a:solidFill>
              <a:srgbClr val="0F172A"/>
            </a:solidFill>
            <a:prstDash val="solid"/>
          </a:ln>
        </p:spPr>
      </p:sp>
      <p:sp>
        <p:nvSpPr>
          <p:cNvPr id="7" name="Text 3"/>
          <p:cNvSpPr/>
          <p:nvPr/>
        </p:nvSpPr>
        <p:spPr>
          <a:xfrm>
            <a:off x="1143000" y="2224553"/>
            <a:ext cx="571500" cy="571500"/>
          </a:xfrm>
          <a:prstGeom prst="rect">
            <a:avLst/>
          </a:prstGeom>
          <a:noFill/>
          <a:ln/>
        </p:spPr>
        <p:txBody>
          <a:bodyPr wrap="none" lIns="0" tIns="0" rIns="0" bIns="0" rtlCol="0" anchor="ctr">
            <a:spAutoFit/>
          </a:bodyPr>
          <a:lstStyle/>
          <a:p>
            <a:pPr algn="ctr" indent="0" marL="0">
              <a:buNone/>
            </a:pPr>
            <a:r>
              <a:rPr lang="en-US" sz="1200" b="1" dirty="0">
                <a:solidFill>
                  <a:srgbClr val="FFFFFF"/>
                </a:solidFill>
                <a:latin typeface="Outfit Bold" pitchFamily="34" charset="0"/>
                <a:ea typeface="Outfit Bold" pitchFamily="34" charset="-122"/>
                <a:cs typeface="Outfit Bold" pitchFamily="34" charset="-120"/>
              </a:rPr>
              <a:t>01</a:t>
            </a:r>
            <a:endParaRPr lang="en-US" sz="1200" dirty="0"/>
          </a:p>
        </p:txBody>
      </p:sp>
      <p:sp>
        <p:nvSpPr>
          <p:cNvPr id="8" name="Text 4"/>
          <p:cNvSpPr/>
          <p:nvPr/>
        </p:nvSpPr>
        <p:spPr>
          <a:xfrm>
            <a:off x="714375" y="2938928"/>
            <a:ext cx="1428750" cy="175022"/>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Intake</a:t>
            </a:r>
            <a:endParaRPr lang="en-US" sz="1000" dirty="0"/>
          </a:p>
        </p:txBody>
      </p:sp>
      <p:sp>
        <p:nvSpPr>
          <p:cNvPr id="9" name="Text 5"/>
          <p:cNvSpPr/>
          <p:nvPr/>
        </p:nvSpPr>
        <p:spPr>
          <a:xfrm>
            <a:off x="714375" y="3185387"/>
            <a:ext cx="1428750" cy="480027"/>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pitchFamily="34" charset="0"/>
                <a:ea typeface="Inter" pitchFamily="34" charset="-122"/>
                <a:cs typeface="Inter" pitchFamily="34" charset="-120"/>
              </a:rPr>
              <a:t>Pending raw vendor drops from Tiruppur &amp; Jaipur.</a:t>
            </a:r>
            <a:endParaRPr lang="en-US" sz="850" dirty="0"/>
          </a:p>
        </p:txBody>
      </p:sp>
      <p:sp>
        <p:nvSpPr>
          <p:cNvPr id="10" name="Shape 6"/>
          <p:cNvSpPr/>
          <p:nvPr/>
        </p:nvSpPr>
        <p:spPr>
          <a:xfrm>
            <a:off x="3238463" y="2304585"/>
            <a:ext cx="571500" cy="571500"/>
          </a:xfrm>
          <a:prstGeom prst="rect">
            <a:avLst/>
          </a:prstGeom>
          <a:solidFill>
            <a:srgbClr val="FFFFFF"/>
          </a:solidFill>
          <a:ln w="27432">
            <a:solidFill>
              <a:srgbClr val="0F172A"/>
            </a:solidFill>
            <a:prstDash val="solid"/>
          </a:ln>
        </p:spPr>
      </p:sp>
      <p:sp>
        <p:nvSpPr>
          <p:cNvPr id="11" name="Text 7"/>
          <p:cNvSpPr/>
          <p:nvPr/>
        </p:nvSpPr>
        <p:spPr>
          <a:xfrm>
            <a:off x="3238463" y="2304585"/>
            <a:ext cx="571500" cy="571500"/>
          </a:xfrm>
          <a:prstGeom prst="rect">
            <a:avLst/>
          </a:prstGeom>
          <a:noFill/>
          <a:ln/>
        </p:spPr>
        <p:txBody>
          <a:bodyPr wrap="none" lIns="0" tIns="0" rIns="0" bIns="0" rtlCol="0" anchor="ctr">
            <a:spAutoFit/>
          </a:bodyPr>
          <a:lstStyle/>
          <a:p>
            <a:pPr algn="ctr" indent="0" marL="0">
              <a:buNone/>
            </a:pPr>
            <a:r>
              <a:rPr lang="en-US" sz="1200" b="1" dirty="0">
                <a:solidFill>
                  <a:srgbClr val="0F172A"/>
                </a:solidFill>
                <a:latin typeface="Outfit Bold" pitchFamily="34" charset="0"/>
                <a:ea typeface="Outfit Bold" pitchFamily="34" charset="-122"/>
                <a:cs typeface="Outfit Bold" pitchFamily="34" charset="-120"/>
              </a:rPr>
              <a:t>02</a:t>
            </a:r>
            <a:endParaRPr lang="en-US" sz="1200" dirty="0"/>
          </a:p>
        </p:txBody>
      </p:sp>
      <p:sp>
        <p:nvSpPr>
          <p:cNvPr id="12" name="Text 8"/>
          <p:cNvSpPr/>
          <p:nvPr/>
        </p:nvSpPr>
        <p:spPr>
          <a:xfrm>
            <a:off x="2809838" y="3018960"/>
            <a:ext cx="1428750" cy="175022"/>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Derivation</a:t>
            </a:r>
            <a:endParaRPr lang="en-US" sz="1000" dirty="0"/>
          </a:p>
        </p:txBody>
      </p:sp>
      <p:sp>
        <p:nvSpPr>
          <p:cNvPr id="13" name="Text 9"/>
          <p:cNvSpPr/>
          <p:nvPr/>
        </p:nvSpPr>
        <p:spPr>
          <a:xfrm>
            <a:off x="2809838" y="3265419"/>
            <a:ext cx="1428750"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pitchFamily="34" charset="0"/>
                <a:ea typeface="Inter" pitchFamily="34" charset="-122"/>
                <a:cs typeface="Inter" pitchFamily="34" charset="-120"/>
              </a:rPr>
              <a:t>AI extracts 60+ attributes in &lt; 2 seconds.</a:t>
            </a:r>
            <a:endParaRPr lang="en-US" sz="850" dirty="0"/>
          </a:p>
        </p:txBody>
      </p:sp>
      <p:sp>
        <p:nvSpPr>
          <p:cNvPr id="14" name="Shape 10"/>
          <p:cNvSpPr/>
          <p:nvPr/>
        </p:nvSpPr>
        <p:spPr>
          <a:xfrm>
            <a:off x="5333926" y="2304585"/>
            <a:ext cx="571500" cy="571500"/>
          </a:xfrm>
          <a:prstGeom prst="rect">
            <a:avLst/>
          </a:prstGeom>
          <a:solidFill>
            <a:srgbClr val="FFFFFF"/>
          </a:solidFill>
          <a:ln w="27432">
            <a:solidFill>
              <a:srgbClr val="0F172A"/>
            </a:solidFill>
            <a:prstDash val="solid"/>
          </a:ln>
        </p:spPr>
      </p:sp>
      <p:sp>
        <p:nvSpPr>
          <p:cNvPr id="15" name="Text 11"/>
          <p:cNvSpPr/>
          <p:nvPr/>
        </p:nvSpPr>
        <p:spPr>
          <a:xfrm>
            <a:off x="5333926" y="2304585"/>
            <a:ext cx="571500" cy="571500"/>
          </a:xfrm>
          <a:prstGeom prst="rect">
            <a:avLst/>
          </a:prstGeom>
          <a:noFill/>
          <a:ln/>
        </p:spPr>
        <p:txBody>
          <a:bodyPr wrap="none" lIns="0" tIns="0" rIns="0" bIns="0" rtlCol="0" anchor="ctr">
            <a:spAutoFit/>
          </a:bodyPr>
          <a:lstStyle/>
          <a:p>
            <a:pPr algn="ctr" indent="0" marL="0">
              <a:buNone/>
            </a:pPr>
            <a:r>
              <a:rPr lang="en-US" sz="1200" b="1" dirty="0">
                <a:solidFill>
                  <a:srgbClr val="0F172A"/>
                </a:solidFill>
                <a:latin typeface="Outfit Bold" pitchFamily="34" charset="0"/>
                <a:ea typeface="Outfit Bold" pitchFamily="34" charset="-122"/>
                <a:cs typeface="Outfit Bold" pitchFamily="34" charset="-120"/>
              </a:rPr>
              <a:t>03</a:t>
            </a:r>
            <a:endParaRPr lang="en-US" sz="1200" dirty="0"/>
          </a:p>
        </p:txBody>
      </p:sp>
      <p:sp>
        <p:nvSpPr>
          <p:cNvPr id="16" name="Text 12"/>
          <p:cNvSpPr/>
          <p:nvPr/>
        </p:nvSpPr>
        <p:spPr>
          <a:xfrm>
            <a:off x="4905301" y="3018960"/>
            <a:ext cx="1428750" cy="175022"/>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Review</a:t>
            </a:r>
            <a:endParaRPr lang="en-US" sz="1000" dirty="0"/>
          </a:p>
        </p:txBody>
      </p:sp>
      <p:sp>
        <p:nvSpPr>
          <p:cNvPr id="17" name="Text 13"/>
          <p:cNvSpPr/>
          <p:nvPr/>
        </p:nvSpPr>
        <p:spPr>
          <a:xfrm>
            <a:off x="4905301" y="3265419"/>
            <a:ext cx="1428750"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pitchFamily="34" charset="0"/>
                <a:ea typeface="Inter" pitchFamily="34" charset="-122"/>
                <a:cs typeface="Inter" pitchFamily="34" charset="-120"/>
              </a:rPr>
              <a:t>Human-in-the-loop for flagged edge cases.</a:t>
            </a:r>
            <a:endParaRPr lang="en-US" sz="850" dirty="0"/>
          </a:p>
        </p:txBody>
      </p:sp>
      <p:sp>
        <p:nvSpPr>
          <p:cNvPr id="18" name="Shape 14"/>
          <p:cNvSpPr/>
          <p:nvPr/>
        </p:nvSpPr>
        <p:spPr>
          <a:xfrm>
            <a:off x="7429388" y="2304585"/>
            <a:ext cx="571500" cy="571500"/>
          </a:xfrm>
          <a:prstGeom prst="rect">
            <a:avLst/>
          </a:prstGeom>
          <a:solidFill>
            <a:srgbClr val="FFFFFF"/>
          </a:solidFill>
          <a:ln w="27432">
            <a:solidFill>
              <a:srgbClr val="0F172A"/>
            </a:solidFill>
            <a:prstDash val="solid"/>
          </a:ln>
        </p:spPr>
      </p:sp>
      <p:sp>
        <p:nvSpPr>
          <p:cNvPr id="19" name="Text 15"/>
          <p:cNvSpPr/>
          <p:nvPr/>
        </p:nvSpPr>
        <p:spPr>
          <a:xfrm>
            <a:off x="7429388" y="2304585"/>
            <a:ext cx="571500" cy="571500"/>
          </a:xfrm>
          <a:prstGeom prst="rect">
            <a:avLst/>
          </a:prstGeom>
          <a:noFill/>
          <a:ln/>
        </p:spPr>
        <p:txBody>
          <a:bodyPr wrap="none" lIns="0" tIns="0" rIns="0" bIns="0" rtlCol="0" anchor="ctr">
            <a:spAutoFit/>
          </a:bodyPr>
          <a:lstStyle/>
          <a:p>
            <a:pPr algn="ctr" indent="0" marL="0">
              <a:buNone/>
            </a:pPr>
            <a:r>
              <a:rPr lang="en-US" sz="1200" b="1" dirty="0">
                <a:solidFill>
                  <a:srgbClr val="0F172A"/>
                </a:solidFill>
                <a:latin typeface="Outfit Bold" pitchFamily="34" charset="0"/>
                <a:ea typeface="Outfit Bold" pitchFamily="34" charset="-122"/>
                <a:cs typeface="Outfit Bold" pitchFamily="34" charset="-120"/>
              </a:rPr>
              <a:t>04</a:t>
            </a:r>
            <a:endParaRPr lang="en-US" sz="1200" dirty="0"/>
          </a:p>
        </p:txBody>
      </p:sp>
      <p:sp>
        <p:nvSpPr>
          <p:cNvPr id="20" name="Text 16"/>
          <p:cNvSpPr/>
          <p:nvPr/>
        </p:nvSpPr>
        <p:spPr>
          <a:xfrm>
            <a:off x="7000763" y="3018960"/>
            <a:ext cx="1428750" cy="175022"/>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Handoff</a:t>
            </a:r>
            <a:endParaRPr lang="en-US" sz="1000" dirty="0"/>
          </a:p>
        </p:txBody>
      </p:sp>
      <p:sp>
        <p:nvSpPr>
          <p:cNvPr id="21" name="Text 17"/>
          <p:cNvSpPr/>
          <p:nvPr/>
        </p:nvSpPr>
        <p:spPr>
          <a:xfrm>
            <a:off x="7000763" y="3265419"/>
            <a:ext cx="1428750"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64748B"/>
                </a:solidFill>
                <a:latin typeface="Inter" pitchFamily="34" charset="0"/>
                <a:ea typeface="Inter" pitchFamily="34" charset="-122"/>
                <a:cs typeface="Inter" pitchFamily="34" charset="-120"/>
              </a:rPr>
              <a:t>Cleaned JSON push to Unicommerce ERP.</a:t>
            </a:r>
            <a:endParaRPr lang="en-US" sz="850" dirty="0"/>
          </a:p>
        </p:txBody>
      </p:sp>
      <p:sp>
        <p:nvSpPr>
          <p:cNvPr id="22" name="Text 18"/>
          <p:cNvSpPr/>
          <p:nvPr/>
        </p:nvSpPr>
        <p:spPr>
          <a:xfrm>
            <a:off x="428625" y="4736306"/>
            <a:ext cx="1096566"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DHG-SYS-DEMOFLOW</a:t>
            </a:r>
            <a:endParaRPr lang="en-US" sz="750" dirty="0"/>
          </a:p>
        </p:txBody>
      </p:sp>
      <p:sp>
        <p:nvSpPr>
          <p:cNvPr id="23" name="Text 19"/>
          <p:cNvSpPr/>
          <p:nvPr/>
        </p:nvSpPr>
        <p:spPr>
          <a:xfrm>
            <a:off x="8326041" y="4736306"/>
            <a:ext cx="389334"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spc="1" kern="0" dirty="0">
                <a:solidFill>
                  <a:srgbClr val="0F172A"/>
                </a:solidFill>
                <a:latin typeface="Outfit Bold" pitchFamily="34" charset="0"/>
                <a:ea typeface="Outfit Bold" pitchFamily="34" charset="-122"/>
                <a:cs typeface="Outfit Bold" pitchFamily="34" charset="-120"/>
              </a:rPr>
              <a:t>DHG-101: MESSY INPUT TO CLEAN LISTING</a:t>
            </a:r>
            <a:endParaRPr lang="en-US" sz="1600" dirty="0"/>
          </a:p>
        </p:txBody>
      </p:sp>
      <p:sp>
        <p:nvSpPr>
          <p:cNvPr id="5" name="Shape 1"/>
          <p:cNvSpPr/>
          <p:nvPr/>
        </p:nvSpPr>
        <p:spPr>
          <a:xfrm>
            <a:off x="428625" y="1032272"/>
            <a:ext cx="4000500" cy="3682603"/>
          </a:xfrm>
          <a:prstGeom prst="rect">
            <a:avLst/>
          </a:prstGeom>
          <a:solidFill>
            <a:srgbClr val="FFFFFF"/>
          </a:solidFill>
          <a:ln w="9144">
            <a:solidFill>
              <a:srgbClr val="E2E8F0"/>
            </a:solidFill>
            <a:prstDash val="solid"/>
          </a:ln>
        </p:spPr>
      </p:sp>
      <p:sp>
        <p:nvSpPr>
          <p:cNvPr id="6" name="Text 2"/>
          <p:cNvSpPr/>
          <p:nvPr/>
        </p:nvSpPr>
        <p:spPr>
          <a:xfrm>
            <a:off x="642938" y="1246584"/>
            <a:ext cx="3571875"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RAW VENDOR INPUT</a:t>
            </a:r>
            <a:endParaRPr lang="en-US" sz="700" dirty="0"/>
          </a:p>
        </p:txBody>
      </p:sp>
      <p:sp>
        <p:nvSpPr>
          <p:cNvPr id="7" name="Shape 3"/>
          <p:cNvSpPr/>
          <p:nvPr/>
        </p:nvSpPr>
        <p:spPr>
          <a:xfrm>
            <a:off x="642938" y="1510903"/>
            <a:ext cx="3571875" cy="2989659"/>
          </a:xfrm>
          <a:prstGeom prst="rect">
            <a:avLst/>
          </a:prstGeom>
          <a:solidFill>
            <a:srgbClr val="F1F5F9"/>
          </a:solidFill>
          <a:ln/>
        </p:spPr>
      </p:sp>
      <p:sp>
        <p:nvSpPr>
          <p:cNvPr id="8" name="Text 4"/>
          <p:cNvSpPr/>
          <p:nvPr/>
        </p:nvSpPr>
        <p:spPr>
          <a:xfrm>
            <a:off x="642938" y="1510903"/>
            <a:ext cx="3571875" cy="2989659"/>
          </a:xfrm>
          <a:prstGeom prst="rect">
            <a:avLst/>
          </a:prstGeom>
          <a:noFill/>
          <a:ln/>
        </p:spPr>
        <p:txBody>
          <a:bodyPr wrap="square" lIns="170053" tIns="170053" rIns="170053" bIns="170053" rtlCol="0" anchor="t">
            <a:spAutoFit/>
          </a:bodyPr>
          <a:lstStyle/>
          <a:p>
            <a:pPr algn="l" indent="0" marL="0">
              <a:buNone/>
            </a:pPr>
            <a:r>
              <a:rPr lang="en-US" sz="850" dirty="0">
                <a:solidFill>
                  <a:srgbClr val="475569"/>
                </a:solidFill>
                <a:latin typeface="monospace" pitchFamily="34" charset="0"/>
                <a:ea typeface="monospace" pitchFamily="34" charset="-122"/>
                <a:cs typeface="monospace" pitchFamily="34" charset="-120"/>
              </a:rPr>
              <a:t>Garment: Anarkali Kurti</a:t>
            </a:r>
            <a:endParaRPr lang="en-US" sz="850" dirty="0"/>
          </a:p>
          <a:p>
            <a:pPr algn="l" indent="0" marL="0">
              <a:buNone/>
            </a:pPr>
            <a:r>
              <a:rPr lang="en-US" sz="850" dirty="0">
                <a:solidFill>
                  <a:srgbClr val="475569"/>
                </a:solidFill>
                <a:latin typeface="monospace" pitchFamily="34" charset="0"/>
                <a:ea typeface="monospace" pitchFamily="34" charset="-122"/>
                <a:cs typeface="monospace" pitchFamily="34" charset="-120"/>
              </a:rPr>
              <a:t>Origin: Jaipur</a:t>
            </a:r>
            <a:endParaRPr lang="en-US" sz="850" dirty="0"/>
          </a:p>
          <a:p>
            <a:pPr algn="l" indent="0" marL="0">
              <a:buNone/>
            </a:pPr>
            <a:r>
              <a:rPr lang="en-US" sz="850" dirty="0">
                <a:solidFill>
                  <a:srgbClr val="475569"/>
                </a:solidFill>
                <a:latin typeface="monospace" pitchFamily="34" charset="0"/>
                <a:ea typeface="monospace" pitchFamily="34" charset="-122"/>
                <a:cs typeface="monospace" pitchFamily="34" charset="-120"/>
              </a:rPr>
              <a:t>Color: Dusty Gulabi</a:t>
            </a:r>
            <a:endParaRPr lang="en-US" sz="850" dirty="0"/>
          </a:p>
          <a:p>
            <a:pPr algn="l" indent="0" marL="0">
              <a:buNone/>
            </a:pPr>
            <a:r>
              <a:rPr lang="en-US" sz="850" dirty="0">
                <a:solidFill>
                  <a:srgbClr val="475569"/>
                </a:solidFill>
                <a:latin typeface="monospace" pitchFamily="34" charset="0"/>
                <a:ea typeface="monospace" pitchFamily="34" charset="-122"/>
                <a:cs typeface="monospace" pitchFamily="34" charset="-120"/>
              </a:rPr>
              <a:t>Fabric: 100% pure slub rayon with foil work</a:t>
            </a:r>
            <a:endParaRPr lang="en-US" sz="850" dirty="0"/>
          </a:p>
          <a:p>
            <a:pPr algn="l" indent="0" marL="0">
              <a:buNone/>
            </a:pPr>
            <a:r>
              <a:rPr lang="en-US" sz="850" dirty="0">
                <a:solidFill>
                  <a:srgbClr val="475569"/>
                </a:solidFill>
                <a:latin typeface="monospace" pitchFamily="34" charset="0"/>
                <a:ea typeface="monospace" pitchFamily="34" charset="-122"/>
                <a:cs typeface="monospace" pitchFamily="34" charset="-120"/>
              </a:rPr>
              <a:t>Price: 799</a:t>
            </a:r>
            <a:endParaRPr lang="en-US" sz="850" dirty="0"/>
          </a:p>
          <a:p>
            <a:pPr algn="l" indent="0" marL="0">
              <a:buNone/>
            </a:pPr>
            <a:r>
              <a:rPr lang="en-US" sz="850" dirty="0">
                <a:solidFill>
                  <a:srgbClr val="475569"/>
                </a:solidFill>
                <a:latin typeface="monospace" pitchFamily="34" charset="0"/>
                <a:ea typeface="monospace" pitchFamily="34" charset="-122"/>
                <a:cs typeface="monospace" pitchFamily="34" charset="-120"/>
              </a:rPr>
              <a:t>Notes: Dry clean recommended. Wash separately.</a:t>
            </a:r>
            <a:endParaRPr lang="en-US" sz="850" dirty="0"/>
          </a:p>
        </p:txBody>
      </p:sp>
      <p:sp>
        <p:nvSpPr>
          <p:cNvPr id="9" name="Shape 5"/>
          <p:cNvSpPr/>
          <p:nvPr/>
        </p:nvSpPr>
        <p:spPr>
          <a:xfrm>
            <a:off x="4714875" y="1032272"/>
            <a:ext cx="4000500" cy="3682603"/>
          </a:xfrm>
          <a:prstGeom prst="rect">
            <a:avLst/>
          </a:prstGeom>
          <a:solidFill>
            <a:srgbClr val="FFFFFF"/>
          </a:solidFill>
          <a:ln w="9144">
            <a:solidFill>
              <a:srgbClr val="E2E8F0"/>
            </a:solidFill>
            <a:prstDash val="solid"/>
          </a:ln>
        </p:spPr>
      </p:sp>
      <p:sp>
        <p:nvSpPr>
          <p:cNvPr id="10" name="Text 6"/>
          <p:cNvSpPr/>
          <p:nvPr/>
        </p:nvSpPr>
        <p:spPr>
          <a:xfrm>
            <a:off x="4929188" y="1246584"/>
            <a:ext cx="3571875"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STRUCTURED OUTPUT (DHAGA SCHEMA)</a:t>
            </a:r>
            <a:endParaRPr lang="en-US" sz="700" dirty="0"/>
          </a:p>
        </p:txBody>
      </p:sp>
      <p:sp>
        <p:nvSpPr>
          <p:cNvPr id="11" name="Text 7"/>
          <p:cNvSpPr/>
          <p:nvPr/>
        </p:nvSpPr>
        <p:spPr>
          <a:xfrm>
            <a:off x="4929188" y="1510903"/>
            <a:ext cx="1819089" cy="296466"/>
          </a:xfrm>
          <a:prstGeom prst="rect">
            <a:avLst/>
          </a:prstGeom>
          <a:noFill/>
          <a:ln/>
        </p:spPr>
        <p:txBody>
          <a:bodyPr wrap="square" lIns="0" tIns="102108" rIns="0" bIns="102108" rtlCol="0" anchor="ctr">
            <a:spAutoFit/>
          </a:bodyPr>
          <a:lstStyle/>
          <a:p>
            <a:pPr algn="l" indent="0" marL="0">
              <a:buNone/>
            </a:pPr>
            <a:r>
              <a:rPr lang="en-US" sz="700" b="1" dirty="0">
                <a:solidFill>
                  <a:srgbClr val="94A3B8"/>
                </a:solidFill>
                <a:latin typeface="Inter Bold" pitchFamily="34" charset="0"/>
                <a:ea typeface="Inter Bold" pitchFamily="34" charset="-122"/>
                <a:cs typeface="Inter Bold" pitchFamily="34" charset="-120"/>
              </a:rPr>
              <a:t>Attribute</a:t>
            </a:r>
            <a:endParaRPr lang="en-US" sz="700" dirty="0"/>
          </a:p>
        </p:txBody>
      </p:sp>
      <p:sp>
        <p:nvSpPr>
          <p:cNvPr id="12" name="Text 8"/>
          <p:cNvSpPr/>
          <p:nvPr/>
        </p:nvSpPr>
        <p:spPr>
          <a:xfrm>
            <a:off x="6748276" y="1510903"/>
            <a:ext cx="1752786" cy="296466"/>
          </a:xfrm>
          <a:prstGeom prst="rect">
            <a:avLst/>
          </a:prstGeom>
          <a:noFill/>
          <a:ln/>
        </p:spPr>
        <p:txBody>
          <a:bodyPr wrap="square" lIns="0" tIns="102108" rIns="0" bIns="102108" rtlCol="0" anchor="ctr">
            <a:spAutoFit/>
          </a:bodyPr>
          <a:lstStyle/>
          <a:p>
            <a:pPr algn="l" indent="0" marL="0">
              <a:buNone/>
            </a:pPr>
            <a:r>
              <a:rPr lang="en-US" sz="700" b="1" dirty="0">
                <a:solidFill>
                  <a:srgbClr val="94A3B8"/>
                </a:solidFill>
                <a:latin typeface="Inter Bold" pitchFamily="34" charset="0"/>
                <a:ea typeface="Inter Bold" pitchFamily="34" charset="-122"/>
                <a:cs typeface="Inter Bold" pitchFamily="34" charset="-120"/>
              </a:rPr>
              <a:t>Mapped Value</a:t>
            </a:r>
            <a:endParaRPr lang="en-US" sz="700" dirty="0"/>
          </a:p>
        </p:txBody>
      </p:sp>
      <p:sp>
        <p:nvSpPr>
          <p:cNvPr id="13" name="Text 9"/>
          <p:cNvSpPr/>
          <p:nvPr/>
        </p:nvSpPr>
        <p:spPr>
          <a:xfrm>
            <a:off x="4929188" y="1807369"/>
            <a:ext cx="1819089" cy="392906"/>
          </a:xfrm>
          <a:prstGeom prst="rect">
            <a:avLst/>
          </a:prstGeom>
          <a:noFill/>
          <a:ln/>
        </p:spPr>
        <p:txBody>
          <a:bodyPr wrap="square" lIns="0" tIns="136017" rIns="0" bIns="136017" rtlCol="0" anchor="ctr">
            <a:spAutoFit/>
          </a:bodyPr>
          <a:lstStyle/>
          <a:p>
            <a:pPr algn="l" indent="0" marL="0">
              <a:buNone/>
            </a:pPr>
            <a:r>
              <a:rPr lang="en-US" sz="950" dirty="0">
                <a:solidFill>
                  <a:srgbClr val="334155"/>
                </a:solidFill>
                <a:latin typeface="Inter" pitchFamily="34" charset="0"/>
                <a:ea typeface="Inter" pitchFamily="34" charset="-122"/>
                <a:cs typeface="Inter" pitchFamily="34" charset="-120"/>
              </a:rPr>
              <a:t>Canonical Color</a:t>
            </a:r>
            <a:endParaRPr lang="en-US" sz="950" dirty="0"/>
          </a:p>
        </p:txBody>
      </p:sp>
      <p:sp>
        <p:nvSpPr>
          <p:cNvPr id="14" name="Text 10"/>
          <p:cNvSpPr/>
          <p:nvPr/>
        </p:nvSpPr>
        <p:spPr>
          <a:xfrm>
            <a:off x="6748276" y="1925241"/>
            <a:ext cx="771525" cy="157163"/>
          </a:xfrm>
          <a:prstGeom prst="rect">
            <a:avLst/>
          </a:prstGeom>
          <a:noFill/>
          <a:ln/>
        </p:spPr>
        <p:txBody>
          <a:bodyPr wrap="non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#RANI_PINK</a:t>
            </a:r>
            <a:endParaRPr lang="en-US" sz="900" dirty="0"/>
          </a:p>
        </p:txBody>
      </p:sp>
      <p:sp>
        <p:nvSpPr>
          <p:cNvPr id="15" name="Text 11"/>
          <p:cNvSpPr/>
          <p:nvPr/>
        </p:nvSpPr>
        <p:spPr>
          <a:xfrm>
            <a:off x="4929188" y="2200275"/>
            <a:ext cx="1819089" cy="392906"/>
          </a:xfrm>
          <a:prstGeom prst="rect">
            <a:avLst/>
          </a:prstGeom>
          <a:noFill/>
          <a:ln/>
        </p:spPr>
        <p:txBody>
          <a:bodyPr wrap="square" lIns="0" tIns="136017" rIns="0" bIns="136017" rtlCol="0" anchor="ctr">
            <a:spAutoFit/>
          </a:bodyPr>
          <a:lstStyle/>
          <a:p>
            <a:pPr algn="l" indent="0" marL="0">
              <a:buNone/>
            </a:pPr>
            <a:r>
              <a:rPr lang="en-US" sz="950" dirty="0">
                <a:solidFill>
                  <a:srgbClr val="334155"/>
                </a:solidFill>
                <a:latin typeface="Inter" pitchFamily="34" charset="0"/>
                <a:ea typeface="Inter" pitchFamily="34" charset="-122"/>
                <a:cs typeface="Inter" pitchFamily="34" charset="-120"/>
              </a:rPr>
              <a:t>Fabric Category</a:t>
            </a:r>
            <a:endParaRPr lang="en-US" sz="950" dirty="0"/>
          </a:p>
        </p:txBody>
      </p:sp>
      <p:sp>
        <p:nvSpPr>
          <p:cNvPr id="16" name="Text 12"/>
          <p:cNvSpPr/>
          <p:nvPr/>
        </p:nvSpPr>
        <p:spPr>
          <a:xfrm>
            <a:off x="6748276" y="2318147"/>
            <a:ext cx="703659" cy="157163"/>
          </a:xfrm>
          <a:prstGeom prst="rect">
            <a:avLst/>
          </a:prstGeom>
          <a:noFill/>
          <a:ln/>
        </p:spPr>
        <p:txBody>
          <a:bodyPr wrap="non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Slub Rayon</a:t>
            </a:r>
            <a:endParaRPr lang="en-US" sz="900" dirty="0"/>
          </a:p>
        </p:txBody>
      </p:sp>
      <p:sp>
        <p:nvSpPr>
          <p:cNvPr id="17" name="Text 13"/>
          <p:cNvSpPr/>
          <p:nvPr/>
        </p:nvSpPr>
        <p:spPr>
          <a:xfrm>
            <a:off x="4929188" y="2593181"/>
            <a:ext cx="1819089" cy="392906"/>
          </a:xfrm>
          <a:prstGeom prst="rect">
            <a:avLst/>
          </a:prstGeom>
          <a:noFill/>
          <a:ln/>
        </p:spPr>
        <p:txBody>
          <a:bodyPr wrap="square" lIns="0" tIns="136017" rIns="0" bIns="136017" rtlCol="0" anchor="ctr">
            <a:spAutoFit/>
          </a:bodyPr>
          <a:lstStyle/>
          <a:p>
            <a:pPr algn="l" indent="0" marL="0">
              <a:buNone/>
            </a:pPr>
            <a:r>
              <a:rPr lang="en-US" sz="950" dirty="0">
                <a:solidFill>
                  <a:srgbClr val="334155"/>
                </a:solidFill>
                <a:latin typeface="Inter" pitchFamily="34" charset="0"/>
                <a:ea typeface="Inter" pitchFamily="34" charset="-122"/>
                <a:cs typeface="Inter" pitchFamily="34" charset="-120"/>
              </a:rPr>
              <a:t>Price Validation</a:t>
            </a:r>
            <a:endParaRPr lang="en-US" sz="950" dirty="0"/>
          </a:p>
        </p:txBody>
      </p:sp>
      <p:sp>
        <p:nvSpPr>
          <p:cNvPr id="18" name="Text 14"/>
          <p:cNvSpPr/>
          <p:nvPr/>
        </p:nvSpPr>
        <p:spPr>
          <a:xfrm>
            <a:off x="6748276" y="2711053"/>
            <a:ext cx="942975" cy="157163"/>
          </a:xfrm>
          <a:prstGeom prst="rect">
            <a:avLst/>
          </a:prstGeom>
          <a:noFill/>
          <a:ln/>
        </p:spPr>
        <p:txBody>
          <a:bodyPr wrap="none" lIns="0" tIns="0" rIns="0" bIns="0" rtlCol="0" anchor="t">
            <a:spAutoFit/>
          </a:bodyPr>
          <a:lstStyle/>
          <a:p>
            <a:pPr algn="l" indent="0" marL="0">
              <a:buNone/>
            </a:pPr>
            <a:r>
              <a:rPr lang="en-US" sz="900" b="1" dirty="0">
                <a:solidFill>
                  <a:srgbClr val="059669"/>
                </a:solidFill>
                <a:latin typeface="Inter Bold" pitchFamily="34" charset="0"/>
                <a:ea typeface="Inter Bold" pitchFamily="34" charset="-122"/>
                <a:cs typeface="Inter Bold" pitchFamily="34" charset="-120"/>
              </a:rPr>
              <a:t>Verified (₹799)</a:t>
            </a:r>
            <a:endParaRPr lang="en-US" sz="900" dirty="0"/>
          </a:p>
        </p:txBody>
      </p:sp>
      <p:sp>
        <p:nvSpPr>
          <p:cNvPr id="19" name="Text 15"/>
          <p:cNvSpPr/>
          <p:nvPr/>
        </p:nvSpPr>
        <p:spPr>
          <a:xfrm>
            <a:off x="4929188" y="3132534"/>
            <a:ext cx="3571875" cy="121444"/>
          </a:xfrm>
          <a:prstGeom prst="rect">
            <a:avLst/>
          </a:prstGeom>
          <a:noFill/>
          <a:ln/>
        </p:spPr>
        <p:txBody>
          <a:bodyPr wrap="square" lIns="0" tIns="0" rIns="0" bIns="0" rtlCol="0" anchor="t">
            <a:spAutoFit/>
          </a:bodyPr>
          <a:lstStyle/>
          <a:p>
            <a:pPr algn="l" indent="0" marL="0">
              <a:buNone/>
            </a:pPr>
            <a:r>
              <a:rPr lang="en-US" sz="700" b="1" dirty="0">
                <a:solidFill>
                  <a:srgbClr val="64748B"/>
                </a:solidFill>
                <a:latin typeface="Inter Bold" pitchFamily="34" charset="0"/>
                <a:ea typeface="Inter Bold" pitchFamily="34" charset="-122"/>
                <a:cs typeface="Inter Bold" pitchFamily="34" charset="-120"/>
              </a:rPr>
              <a:t>SEARCH TAGS (HINGLISH)</a:t>
            </a:r>
            <a:endParaRPr lang="en-US" sz="700" dirty="0"/>
          </a:p>
        </p:txBody>
      </p:sp>
      <p:sp>
        <p:nvSpPr>
          <p:cNvPr id="20" name="Shape 16"/>
          <p:cNvSpPr/>
          <p:nvPr/>
        </p:nvSpPr>
        <p:spPr>
          <a:xfrm>
            <a:off x="4929188" y="3382566"/>
            <a:ext cx="1403747" cy="192881"/>
          </a:xfrm>
          <a:prstGeom prst="rect">
            <a:avLst/>
          </a:prstGeom>
          <a:solidFill>
            <a:srgbClr val="FFF7ED"/>
          </a:solidFill>
          <a:ln w="9144">
            <a:solidFill>
              <a:srgbClr val="FFEDD5"/>
            </a:solidFill>
            <a:prstDash val="solid"/>
          </a:ln>
        </p:spPr>
      </p:sp>
      <p:sp>
        <p:nvSpPr>
          <p:cNvPr id="21" name="Text 17"/>
          <p:cNvSpPr/>
          <p:nvPr/>
        </p:nvSpPr>
        <p:spPr>
          <a:xfrm>
            <a:off x="4929188" y="3382566"/>
            <a:ext cx="1403747" cy="192881"/>
          </a:xfrm>
          <a:prstGeom prst="rect">
            <a:avLst/>
          </a:prstGeom>
          <a:noFill/>
          <a:ln/>
        </p:spPr>
        <p:txBody>
          <a:bodyPr wrap="square" lIns="85090" tIns="34036" rIns="85090" bIns="34036" rtlCol="0" anchor="t">
            <a:spAutoFit/>
          </a:bodyPr>
          <a:lstStyle/>
          <a:p>
            <a:pPr algn="l" indent="0" marL="0">
              <a:buNone/>
            </a:pPr>
            <a:r>
              <a:rPr lang="en-US" sz="700" b="1" dirty="0">
                <a:solidFill>
                  <a:srgbClr val="C2410C"/>
                </a:solidFill>
                <a:latin typeface="Inter Bold" pitchFamily="34" charset="0"/>
                <a:ea typeface="Inter Bold" pitchFamily="34" charset="-122"/>
                <a:cs typeface="Inter Bold" pitchFamily="34" charset="-120"/>
              </a:rPr>
              <a:t>🔍 mehndi function dress</a:t>
            </a:r>
            <a:endParaRPr lang="en-US" sz="700" dirty="0"/>
          </a:p>
        </p:txBody>
      </p:sp>
      <p:sp>
        <p:nvSpPr>
          <p:cNvPr id="22" name="Shape 18"/>
          <p:cNvSpPr/>
          <p:nvPr/>
        </p:nvSpPr>
        <p:spPr>
          <a:xfrm>
            <a:off x="6407944" y="3382566"/>
            <a:ext cx="1107281" cy="192881"/>
          </a:xfrm>
          <a:prstGeom prst="rect">
            <a:avLst/>
          </a:prstGeom>
          <a:solidFill>
            <a:srgbClr val="FFF7ED"/>
          </a:solidFill>
          <a:ln w="9144">
            <a:solidFill>
              <a:srgbClr val="FFEDD5"/>
            </a:solidFill>
            <a:prstDash val="solid"/>
          </a:ln>
        </p:spPr>
      </p:sp>
      <p:sp>
        <p:nvSpPr>
          <p:cNvPr id="23" name="Text 19"/>
          <p:cNvSpPr/>
          <p:nvPr/>
        </p:nvSpPr>
        <p:spPr>
          <a:xfrm>
            <a:off x="6407944" y="3382566"/>
            <a:ext cx="1107281" cy="192881"/>
          </a:xfrm>
          <a:prstGeom prst="rect">
            <a:avLst/>
          </a:prstGeom>
          <a:noFill/>
          <a:ln/>
        </p:spPr>
        <p:txBody>
          <a:bodyPr wrap="none" lIns="85090" tIns="34036" rIns="85090" bIns="34036" rtlCol="0" anchor="t">
            <a:spAutoFit/>
          </a:bodyPr>
          <a:lstStyle/>
          <a:p>
            <a:pPr algn="l" indent="0" marL="0">
              <a:buNone/>
            </a:pPr>
            <a:r>
              <a:rPr lang="en-US" sz="700" b="1" dirty="0">
                <a:solidFill>
                  <a:srgbClr val="C2410C"/>
                </a:solidFill>
                <a:latin typeface="Inter Bold" pitchFamily="34" charset="0"/>
                <a:ea typeface="Inter Bold" pitchFamily="34" charset="-122"/>
                <a:cs typeface="Inter Bold" pitchFamily="34" charset="-120"/>
              </a:rPr>
              <a:t>🔍 office wear kurti</a:t>
            </a:r>
            <a:endParaRPr lang="en-US" sz="700" dirty="0"/>
          </a:p>
        </p:txBody>
      </p:sp>
      <p:sp>
        <p:nvSpPr>
          <p:cNvPr id="24" name="Shape 20"/>
          <p:cNvSpPr/>
          <p:nvPr/>
        </p:nvSpPr>
        <p:spPr>
          <a:xfrm>
            <a:off x="4929188" y="3618309"/>
            <a:ext cx="1239441" cy="192881"/>
          </a:xfrm>
          <a:prstGeom prst="rect">
            <a:avLst/>
          </a:prstGeom>
          <a:solidFill>
            <a:srgbClr val="FFF7ED"/>
          </a:solidFill>
          <a:ln w="9144">
            <a:solidFill>
              <a:srgbClr val="FFEDD5"/>
            </a:solidFill>
            <a:prstDash val="solid"/>
          </a:ln>
        </p:spPr>
      </p:sp>
      <p:sp>
        <p:nvSpPr>
          <p:cNvPr id="25" name="Text 21"/>
          <p:cNvSpPr/>
          <p:nvPr/>
        </p:nvSpPr>
        <p:spPr>
          <a:xfrm>
            <a:off x="4929188" y="3618309"/>
            <a:ext cx="1239441" cy="192881"/>
          </a:xfrm>
          <a:prstGeom prst="rect">
            <a:avLst/>
          </a:prstGeom>
          <a:noFill/>
          <a:ln/>
        </p:spPr>
        <p:txBody>
          <a:bodyPr wrap="none" lIns="85090" tIns="34036" rIns="85090" bIns="34036" rtlCol="0" anchor="t">
            <a:spAutoFit/>
          </a:bodyPr>
          <a:lstStyle/>
          <a:p>
            <a:pPr algn="l" indent="0" marL="0">
              <a:buNone/>
            </a:pPr>
            <a:r>
              <a:rPr lang="en-US" sz="700" b="1" dirty="0">
                <a:solidFill>
                  <a:srgbClr val="C2410C"/>
                </a:solidFill>
                <a:latin typeface="Inter Bold" pitchFamily="34" charset="0"/>
                <a:ea typeface="Inter Bold" pitchFamily="34" charset="-122"/>
                <a:cs typeface="Inter Bold" pitchFamily="34" charset="-120"/>
              </a:rPr>
              <a:t>🔍 festive ethnic wear</a:t>
            </a:r>
            <a:endParaRPr lang="en-US" sz="700" dirty="0"/>
          </a:p>
        </p:txBody>
      </p:sp>
      <p:sp>
        <p:nvSpPr>
          <p:cNvPr id="26" name="Text 22"/>
          <p:cNvSpPr/>
          <p:nvPr/>
        </p:nvSpPr>
        <p:spPr>
          <a:xfrm>
            <a:off x="428625" y="4736306"/>
            <a:ext cx="1253728"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DHG-PROD-ENRICHMENT</a:t>
            </a:r>
            <a:endParaRPr lang="en-US" sz="750" dirty="0"/>
          </a:p>
        </p:txBody>
      </p:sp>
      <p:sp>
        <p:nvSpPr>
          <p:cNvPr id="27" name="Text 23"/>
          <p:cNvSpPr/>
          <p:nvPr/>
        </p:nvSpPr>
        <p:spPr>
          <a:xfrm>
            <a:off x="8329613" y="4736306"/>
            <a:ext cx="38576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spc="1" kern="0" dirty="0">
                <a:solidFill>
                  <a:srgbClr val="D97706"/>
                </a:solidFill>
                <a:latin typeface="Outfit Bold" pitchFamily="34" charset="0"/>
                <a:ea typeface="Outfit Bold" pitchFamily="34" charset="-122"/>
                <a:cs typeface="Outfit Bold" pitchFamily="34" charset="-120"/>
              </a:rPr>
              <a:t>DHG-999: STOP THE UNSAFE LISTING</a:t>
            </a:r>
            <a:endParaRPr lang="en-US" sz="1600" dirty="0"/>
          </a:p>
        </p:txBody>
      </p:sp>
      <p:sp>
        <p:nvSpPr>
          <p:cNvPr id="5" name="Shape 1"/>
          <p:cNvSpPr/>
          <p:nvPr/>
        </p:nvSpPr>
        <p:spPr>
          <a:xfrm>
            <a:off x="428625" y="1032272"/>
            <a:ext cx="8286750" cy="707231"/>
          </a:xfrm>
          <a:prstGeom prst="rect">
            <a:avLst/>
          </a:prstGeom>
          <a:solidFill>
            <a:srgbClr val="991B1B"/>
          </a:solidFill>
          <a:ln/>
        </p:spPr>
      </p:sp>
      <p:sp>
        <p:nvSpPr>
          <p:cNvPr id="6" name="Text 2"/>
          <p:cNvSpPr/>
          <p:nvPr/>
        </p:nvSpPr>
        <p:spPr>
          <a:xfrm>
            <a:off x="428625" y="1032272"/>
            <a:ext cx="8286750" cy="707231"/>
          </a:xfrm>
          <a:prstGeom prst="rect">
            <a:avLst/>
          </a:prstGeom>
          <a:noFill/>
          <a:ln/>
        </p:spPr>
        <p:txBody>
          <a:bodyPr wrap="square" lIns="255143" tIns="255143" rIns="255143" bIns="255143" rtlCol="0" anchor="t">
            <a:spAutoFit/>
          </a:bodyPr>
          <a:lstStyle/>
          <a:p>
            <a:pPr algn="l" indent="0" marL="0">
              <a:buNone/>
            </a:pPr>
            <a:r>
              <a:rPr lang="en-US" sz="1200" b="1" dirty="0">
                <a:solidFill>
                  <a:srgbClr val="FFFFFF"/>
                </a:solidFill>
                <a:latin typeface="Inter Bold" pitchFamily="34" charset="0"/>
                <a:ea typeface="Inter Bold" pitchFamily="34" charset="-122"/>
                <a:cs typeface="Inter Bold" pitchFamily="34" charset="-120"/>
              </a:rPr>
              <a:t>QUALITY CONFLICT FLAGGED: ITEM HELD FOR HUMAN REVIEW</a:t>
            </a:r>
            <a:endParaRPr lang="en-US" sz="1200" dirty="0"/>
          </a:p>
        </p:txBody>
      </p:sp>
      <p:sp>
        <p:nvSpPr>
          <p:cNvPr id="7" name="Shape 3"/>
          <p:cNvSpPr/>
          <p:nvPr/>
        </p:nvSpPr>
        <p:spPr>
          <a:xfrm>
            <a:off x="428625" y="2025253"/>
            <a:ext cx="4000500" cy="1300832"/>
          </a:xfrm>
          <a:prstGeom prst="rect">
            <a:avLst/>
          </a:prstGeom>
          <a:solidFill>
            <a:srgbClr val="334155"/>
          </a:solidFill>
          <a:ln/>
        </p:spPr>
      </p:sp>
      <p:sp>
        <p:nvSpPr>
          <p:cNvPr id="8" name="Shape 4"/>
          <p:cNvSpPr/>
          <p:nvPr/>
        </p:nvSpPr>
        <p:spPr>
          <a:xfrm>
            <a:off x="428625" y="2025253"/>
            <a:ext cx="28575" cy="1300832"/>
          </a:xfrm>
          <a:prstGeom prst="rect">
            <a:avLst/>
          </a:prstGeom>
          <a:solidFill>
            <a:srgbClr val="EF4444"/>
          </a:solidFill>
          <a:ln/>
        </p:spPr>
      </p:sp>
      <p:sp>
        <p:nvSpPr>
          <p:cNvPr id="9" name="Text 5"/>
          <p:cNvSpPr/>
          <p:nvPr/>
        </p:nvSpPr>
        <p:spPr>
          <a:xfrm>
            <a:off x="714375" y="2311003"/>
            <a:ext cx="3429000" cy="175022"/>
          </a:xfrm>
          <a:prstGeom prst="rect">
            <a:avLst/>
          </a:prstGeom>
          <a:noFill/>
          <a:ln/>
        </p:spPr>
        <p:txBody>
          <a:bodyPr wrap="square" lIns="0" tIns="0" rIns="0" bIns="0" rtlCol="0" anchor="t">
            <a:spAutoFit/>
          </a:bodyPr>
          <a:lstStyle/>
          <a:p>
            <a:pPr algn="l" indent="0" marL="0">
              <a:buNone/>
            </a:pPr>
            <a:r>
              <a:rPr lang="en-US" sz="1000" b="1" dirty="0">
                <a:solidFill>
                  <a:srgbClr val="EF4444"/>
                </a:solidFill>
                <a:latin typeface="Inter Bold" pitchFamily="34" charset="0"/>
                <a:ea typeface="Inter Bold" pitchFamily="34" charset="-122"/>
                <a:cs typeface="Inter Bold" pitchFamily="34" charset="-120"/>
              </a:rPr>
              <a:t>FABRIC CONTRADICTION</a:t>
            </a:r>
            <a:endParaRPr lang="en-US" sz="1000" dirty="0"/>
          </a:p>
        </p:txBody>
      </p:sp>
      <p:sp>
        <p:nvSpPr>
          <p:cNvPr id="10" name="Text 6"/>
          <p:cNvSpPr/>
          <p:nvPr/>
        </p:nvSpPr>
        <p:spPr>
          <a:xfrm>
            <a:off x="714375" y="2628900"/>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pitchFamily="34" charset="0"/>
                <a:ea typeface="Inter" pitchFamily="34" charset="-122"/>
                <a:cs typeface="Inter" pitchFamily="34" charset="-120"/>
              </a:rPr>
              <a:t>Vendor claims "Denim" and "Silk" in the same item description. System flags impossible blend.</a:t>
            </a:r>
            <a:endParaRPr lang="en-US" sz="950" dirty="0"/>
          </a:p>
        </p:txBody>
      </p:sp>
      <p:sp>
        <p:nvSpPr>
          <p:cNvPr id="11" name="Shape 7"/>
          <p:cNvSpPr/>
          <p:nvPr/>
        </p:nvSpPr>
        <p:spPr>
          <a:xfrm>
            <a:off x="4714875" y="2025253"/>
            <a:ext cx="4000500" cy="1300832"/>
          </a:xfrm>
          <a:prstGeom prst="rect">
            <a:avLst/>
          </a:prstGeom>
          <a:solidFill>
            <a:srgbClr val="334155"/>
          </a:solidFill>
          <a:ln/>
        </p:spPr>
      </p:sp>
      <p:sp>
        <p:nvSpPr>
          <p:cNvPr id="12" name="Shape 8"/>
          <p:cNvSpPr/>
          <p:nvPr/>
        </p:nvSpPr>
        <p:spPr>
          <a:xfrm>
            <a:off x="4714875" y="2025253"/>
            <a:ext cx="28575" cy="1300832"/>
          </a:xfrm>
          <a:prstGeom prst="rect">
            <a:avLst/>
          </a:prstGeom>
          <a:solidFill>
            <a:srgbClr val="EF4444"/>
          </a:solidFill>
          <a:ln/>
        </p:spPr>
      </p:sp>
      <p:sp>
        <p:nvSpPr>
          <p:cNvPr id="13" name="Text 9"/>
          <p:cNvSpPr/>
          <p:nvPr/>
        </p:nvSpPr>
        <p:spPr>
          <a:xfrm>
            <a:off x="5000625" y="2311003"/>
            <a:ext cx="3429000" cy="175022"/>
          </a:xfrm>
          <a:prstGeom prst="rect">
            <a:avLst/>
          </a:prstGeom>
          <a:noFill/>
          <a:ln/>
        </p:spPr>
        <p:txBody>
          <a:bodyPr wrap="square" lIns="0" tIns="0" rIns="0" bIns="0" rtlCol="0" anchor="t">
            <a:spAutoFit/>
          </a:bodyPr>
          <a:lstStyle/>
          <a:p>
            <a:pPr algn="l" indent="0" marL="0">
              <a:buNone/>
            </a:pPr>
            <a:r>
              <a:rPr lang="en-US" sz="1000" b="1" dirty="0">
                <a:solidFill>
                  <a:srgbClr val="EF4444"/>
                </a:solidFill>
                <a:latin typeface="Inter Bold" pitchFamily="34" charset="0"/>
                <a:ea typeface="Inter Bold" pitchFamily="34" charset="-122"/>
                <a:cs typeface="Inter Bold" pitchFamily="34" charset="-120"/>
              </a:rPr>
              <a:t>INVALID WASH CARE</a:t>
            </a:r>
            <a:endParaRPr lang="en-US" sz="1000" dirty="0"/>
          </a:p>
        </p:txBody>
      </p:sp>
      <p:sp>
        <p:nvSpPr>
          <p:cNvPr id="14" name="Text 10"/>
          <p:cNvSpPr/>
          <p:nvPr/>
        </p:nvSpPr>
        <p:spPr>
          <a:xfrm>
            <a:off x="5000625" y="2628900"/>
            <a:ext cx="342900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pitchFamily="34" charset="0"/>
                <a:ea typeface="Inter" pitchFamily="34" charset="-122"/>
                <a:cs typeface="Inter" pitchFamily="34" charset="-120"/>
              </a:rPr>
              <a:t>"Do not wash / Do not dry clean" instructions detected. Blocked to prevent customer returns spike.</a:t>
            </a:r>
            <a:endParaRPr lang="en-US" sz="950" dirty="0"/>
          </a:p>
        </p:txBody>
      </p:sp>
      <p:sp>
        <p:nvSpPr>
          <p:cNvPr id="15" name="Shape 11"/>
          <p:cNvSpPr/>
          <p:nvPr/>
        </p:nvSpPr>
        <p:spPr>
          <a:xfrm>
            <a:off x="3136106" y="3754710"/>
            <a:ext cx="2871788" cy="500063"/>
          </a:xfrm>
          <a:prstGeom prst="rect">
            <a:avLst/>
          </a:prstGeom>
          <a:solidFill>
            <a:srgbClr val="D97706"/>
          </a:solidFill>
          <a:ln/>
        </p:spPr>
      </p:sp>
      <p:sp>
        <p:nvSpPr>
          <p:cNvPr id="16" name="Text 12"/>
          <p:cNvSpPr/>
          <p:nvPr/>
        </p:nvSpPr>
        <p:spPr>
          <a:xfrm>
            <a:off x="3136106" y="3754710"/>
            <a:ext cx="2871788" cy="500063"/>
          </a:xfrm>
          <a:prstGeom prst="rect">
            <a:avLst/>
          </a:prstGeom>
          <a:noFill/>
          <a:ln/>
        </p:spPr>
        <p:txBody>
          <a:bodyPr wrap="square" lIns="340233" tIns="170053" rIns="340233" bIns="170053" rtlCol="0" anchor="t">
            <a:spAutoFit/>
          </a:bodyPr>
          <a:lstStyle/>
          <a:p>
            <a:pPr algn="ctr" indent="0" marL="0">
              <a:buNone/>
            </a:pPr>
            <a:r>
              <a:rPr lang="en-US" sz="1200" b="1" dirty="0">
                <a:solidFill>
                  <a:srgbClr val="FFFFFF"/>
                </a:solidFill>
                <a:latin typeface="Outfit Bold" pitchFamily="34" charset="0"/>
                <a:ea typeface="Outfit Bold" pitchFamily="34" charset="-122"/>
                <a:cs typeface="Outfit Bold" pitchFamily="34" charset="-120"/>
              </a:rPr>
              <a:t>⚡ RESOLVE CONFLICT IN UI</a:t>
            </a:r>
            <a:endParaRPr lang="en-US" sz="1200" dirty="0"/>
          </a:p>
        </p:txBody>
      </p:sp>
      <p:sp>
        <p:nvSpPr>
          <p:cNvPr id="17" name="Text 13"/>
          <p:cNvSpPr/>
          <p:nvPr/>
        </p:nvSpPr>
        <p:spPr>
          <a:xfrm>
            <a:off x="428625" y="4736306"/>
            <a:ext cx="1200150"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DHG-SAFE-GUARDRAILS</a:t>
            </a:r>
            <a:endParaRPr lang="en-US" sz="750" dirty="0"/>
          </a:p>
        </p:txBody>
      </p:sp>
      <p:sp>
        <p:nvSpPr>
          <p:cNvPr id="18" name="Text 14"/>
          <p:cNvSpPr/>
          <p:nvPr/>
        </p:nvSpPr>
        <p:spPr>
          <a:xfrm>
            <a:off x="8329613" y="4736306"/>
            <a:ext cx="38576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57200"/>
            <a:ext cx="8286750" cy="289322"/>
          </a:xfrm>
          <a:prstGeom prst="rect">
            <a:avLst/>
          </a:prstGeom>
          <a:noFill/>
          <a:ln/>
        </p:spPr>
        <p:txBody>
          <a:bodyPr wrap="square" lIns="0" tIns="0" rIns="0" bIns="0" rtlCol="0" anchor="t">
            <a:spAutoFit/>
          </a:bodyPr>
          <a:lstStyle/>
          <a:p>
            <a:pPr algn="l" indent="0" marL="0">
              <a:buNone/>
            </a:pPr>
            <a:r>
              <a:rPr lang="en-US" sz="1600" b="1" dirty="0">
                <a:solidFill>
                  <a:srgbClr val="0F172A"/>
                </a:solidFill>
                <a:latin typeface="Outfit Bold" pitchFamily="34" charset="0"/>
                <a:ea typeface="Outfit Bold" pitchFamily="34" charset="-122"/>
                <a:cs typeface="Outfit Bold" pitchFamily="34" charset="-120"/>
              </a:rPr>
              <a:t>COMPLETING THE VISION</a:t>
            </a:r>
            <a:endParaRPr lang="en-US" sz="1600" dirty="0"/>
          </a:p>
        </p:txBody>
      </p:sp>
      <p:sp>
        <p:nvSpPr>
          <p:cNvPr id="5" name="Shape 1"/>
          <p:cNvSpPr/>
          <p:nvPr/>
        </p:nvSpPr>
        <p:spPr>
          <a:xfrm>
            <a:off x="428625" y="1032272"/>
            <a:ext cx="4000500" cy="3682603"/>
          </a:xfrm>
          <a:prstGeom prst="rect">
            <a:avLst/>
          </a:prstGeom>
          <a:solidFill>
            <a:srgbClr val="FFFFFF"/>
          </a:solidFill>
          <a:ln/>
        </p:spPr>
      </p:sp>
      <p:sp>
        <p:nvSpPr>
          <p:cNvPr id="6" name="Shape 2"/>
          <p:cNvSpPr/>
          <p:nvPr/>
        </p:nvSpPr>
        <p:spPr>
          <a:xfrm>
            <a:off x="428625" y="1032272"/>
            <a:ext cx="4000500" cy="28575"/>
          </a:xfrm>
          <a:prstGeom prst="rect">
            <a:avLst/>
          </a:prstGeom>
          <a:solidFill>
            <a:srgbClr val="0F172A"/>
          </a:solidFill>
          <a:ln/>
        </p:spPr>
      </p:sp>
      <p:sp>
        <p:nvSpPr>
          <p:cNvPr id="7" name="Shape 3"/>
          <p:cNvSpPr/>
          <p:nvPr/>
        </p:nvSpPr>
        <p:spPr>
          <a:xfrm>
            <a:off x="4421981" y="1032272"/>
            <a:ext cx="7144" cy="3682603"/>
          </a:xfrm>
          <a:prstGeom prst="rect">
            <a:avLst/>
          </a:prstGeom>
          <a:solidFill>
            <a:srgbClr val="E2E8F0"/>
          </a:solidFill>
          <a:ln/>
        </p:spPr>
      </p:sp>
      <p:sp>
        <p:nvSpPr>
          <p:cNvPr id="8" name="Shape 4"/>
          <p:cNvSpPr/>
          <p:nvPr/>
        </p:nvSpPr>
        <p:spPr>
          <a:xfrm>
            <a:off x="428625" y="4707731"/>
            <a:ext cx="4000500" cy="7144"/>
          </a:xfrm>
          <a:prstGeom prst="rect">
            <a:avLst/>
          </a:prstGeom>
          <a:solidFill>
            <a:srgbClr val="E2E8F0"/>
          </a:solidFill>
          <a:ln/>
        </p:spPr>
      </p:sp>
      <p:sp>
        <p:nvSpPr>
          <p:cNvPr id="9" name="Shape 5"/>
          <p:cNvSpPr/>
          <p:nvPr/>
        </p:nvSpPr>
        <p:spPr>
          <a:xfrm>
            <a:off x="428625" y="1032272"/>
            <a:ext cx="7144" cy="3682603"/>
          </a:xfrm>
          <a:prstGeom prst="rect">
            <a:avLst/>
          </a:prstGeom>
          <a:solidFill>
            <a:srgbClr val="E2E8F0"/>
          </a:solidFill>
          <a:ln/>
        </p:spPr>
      </p:sp>
      <p:sp>
        <p:nvSpPr>
          <p:cNvPr id="10" name="Text 6"/>
          <p:cNvSpPr/>
          <p:nvPr/>
        </p:nvSpPr>
        <p:spPr>
          <a:xfrm>
            <a:off x="642938" y="1246584"/>
            <a:ext cx="3571875" cy="175022"/>
          </a:xfrm>
          <a:prstGeom prst="rect">
            <a:avLst/>
          </a:prstGeom>
          <a:noFill/>
          <a:ln/>
        </p:spPr>
        <p:txBody>
          <a:bodyPr wrap="square" lIns="0" tIns="0" rIns="0" bIns="0"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WHAT WE BUILD NEXT</a:t>
            </a:r>
            <a:endParaRPr lang="en-US" sz="1000" dirty="0"/>
          </a:p>
        </p:txBody>
      </p:sp>
      <p:sp>
        <p:nvSpPr>
          <p:cNvPr id="11" name="Text 7"/>
          <p:cNvSpPr/>
          <p:nvPr/>
        </p:nvSpPr>
        <p:spPr>
          <a:xfrm>
            <a:off x="642938" y="1564481"/>
            <a:ext cx="3571875" cy="179989"/>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D97706"/>
                </a:solidFill>
                <a:latin typeface="Inter Bold" pitchFamily="34" charset="0"/>
                <a:ea typeface="Inter Bold" pitchFamily="34" charset="-122"/>
                <a:cs typeface="Inter Bold" pitchFamily="34" charset="-120"/>
              </a:rPr>
              <a:t>Multimodal OCR Ingestion</a:t>
            </a:r>
            <a:endParaRPr lang="en-US" sz="900" dirty="0"/>
          </a:p>
        </p:txBody>
      </p:sp>
      <p:sp>
        <p:nvSpPr>
          <p:cNvPr id="12" name="Text 8"/>
          <p:cNvSpPr/>
          <p:nvPr/>
        </p:nvSpPr>
        <p:spPr>
          <a:xfrm>
            <a:off x="642938" y="1783761"/>
            <a:ext cx="3136106" cy="157163"/>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For handwritten challans and supplier PDF invoices.</a:t>
            </a:r>
            <a:endParaRPr lang="en-US" sz="950" dirty="0"/>
          </a:p>
        </p:txBody>
      </p:sp>
      <p:sp>
        <p:nvSpPr>
          <p:cNvPr id="13" name="Text 9"/>
          <p:cNvSpPr/>
          <p:nvPr/>
        </p:nvSpPr>
        <p:spPr>
          <a:xfrm>
            <a:off x="642938" y="2095909"/>
            <a:ext cx="3571875" cy="179989"/>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D97706"/>
                </a:solidFill>
                <a:latin typeface="Inter Bold" pitchFamily="34" charset="0"/>
                <a:ea typeface="Inter Bold" pitchFamily="34" charset="-122"/>
                <a:cs typeface="Inter Bold" pitchFamily="34" charset="-120"/>
              </a:rPr>
              <a:t>Two-Way Shopify Sync</a:t>
            </a:r>
            <a:endParaRPr lang="en-US" sz="900" dirty="0"/>
          </a:p>
        </p:txBody>
      </p:sp>
      <p:sp>
        <p:nvSpPr>
          <p:cNvPr id="14" name="Text 10"/>
          <p:cNvSpPr/>
          <p:nvPr/>
        </p:nvSpPr>
        <p:spPr>
          <a:xfrm>
            <a:off x="642938" y="2315189"/>
            <a:ext cx="3321844" cy="157163"/>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Automated draft creation via direct Shopify Admin API.</a:t>
            </a:r>
            <a:endParaRPr lang="en-US" sz="950" dirty="0"/>
          </a:p>
        </p:txBody>
      </p:sp>
      <p:sp>
        <p:nvSpPr>
          <p:cNvPr id="15" name="Text 11"/>
          <p:cNvSpPr/>
          <p:nvPr/>
        </p:nvSpPr>
        <p:spPr>
          <a:xfrm>
            <a:off x="642938" y="2627337"/>
            <a:ext cx="3571875" cy="179989"/>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D97706"/>
                </a:solidFill>
                <a:latin typeface="Inter Bold" pitchFamily="34" charset="0"/>
                <a:ea typeface="Inter Bold" pitchFamily="34" charset="-122"/>
                <a:cs typeface="Inter Bold" pitchFamily="34" charset="-120"/>
              </a:rPr>
              <a:t>Image-Text QC</a:t>
            </a:r>
            <a:endParaRPr lang="en-US" sz="900" dirty="0"/>
          </a:p>
        </p:txBody>
      </p:sp>
      <p:sp>
        <p:nvSpPr>
          <p:cNvPr id="16" name="Text 12"/>
          <p:cNvSpPr/>
          <p:nvPr/>
        </p:nvSpPr>
        <p:spPr>
          <a:xfrm>
            <a:off x="642938" y="2846617"/>
            <a:ext cx="3057525" cy="157163"/>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Cross-verification of studio photos against vendor</a:t>
            </a:r>
            <a:endParaRPr lang="en-US" sz="950" dirty="0"/>
          </a:p>
        </p:txBody>
      </p:sp>
      <p:sp>
        <p:nvSpPr>
          <p:cNvPr id="17" name="Text 13"/>
          <p:cNvSpPr/>
          <p:nvPr/>
        </p:nvSpPr>
        <p:spPr>
          <a:xfrm>
            <a:off x="642938" y="3026606"/>
            <a:ext cx="789384" cy="157163"/>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descriptions.</a:t>
            </a:r>
            <a:endParaRPr lang="en-US" sz="950" dirty="0"/>
          </a:p>
        </p:txBody>
      </p:sp>
      <p:sp>
        <p:nvSpPr>
          <p:cNvPr id="18" name="Text 14"/>
          <p:cNvSpPr/>
          <p:nvPr/>
        </p:nvSpPr>
        <p:spPr>
          <a:xfrm>
            <a:off x="642938" y="3338754"/>
            <a:ext cx="3571875" cy="179989"/>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D97706"/>
                </a:solidFill>
                <a:latin typeface="Inter Bold" pitchFamily="34" charset="0"/>
                <a:ea typeface="Inter Bold" pitchFamily="34" charset="-122"/>
                <a:cs typeface="Inter Bold" pitchFamily="34" charset="-120"/>
              </a:rPr>
              <a:t>Vendor WhatsApp Bot</a:t>
            </a:r>
            <a:endParaRPr lang="en-US" sz="900" dirty="0"/>
          </a:p>
        </p:txBody>
      </p:sp>
      <p:sp>
        <p:nvSpPr>
          <p:cNvPr id="19" name="Text 15"/>
          <p:cNvSpPr/>
          <p:nvPr/>
        </p:nvSpPr>
        <p:spPr>
          <a:xfrm>
            <a:off x="642938" y="3558034"/>
            <a:ext cx="3186113" cy="157163"/>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Prompting suppliers for missing attributes at source.</a:t>
            </a:r>
            <a:endParaRPr lang="en-US" sz="950" dirty="0"/>
          </a:p>
        </p:txBody>
      </p:sp>
      <p:sp>
        <p:nvSpPr>
          <p:cNvPr id="20" name="Text 16"/>
          <p:cNvSpPr/>
          <p:nvPr/>
        </p:nvSpPr>
        <p:spPr>
          <a:xfrm>
            <a:off x="4714875" y="1032272"/>
            <a:ext cx="4000500" cy="175022"/>
          </a:xfrm>
          <a:prstGeom prst="rect">
            <a:avLst/>
          </a:prstGeom>
          <a:noFill/>
          <a:ln/>
        </p:spPr>
        <p:txBody>
          <a:bodyPr wrap="square" lIns="0" tIns="0" rIns="0" bIns="0"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THE CLIENT ASK</a:t>
            </a:r>
            <a:endParaRPr lang="en-US" sz="1000" dirty="0"/>
          </a:p>
        </p:txBody>
      </p:sp>
      <p:sp>
        <p:nvSpPr>
          <p:cNvPr id="21" name="Shape 17"/>
          <p:cNvSpPr/>
          <p:nvPr/>
        </p:nvSpPr>
        <p:spPr>
          <a:xfrm>
            <a:off x="4714875" y="1350169"/>
            <a:ext cx="4000500" cy="1199369"/>
          </a:xfrm>
          <a:prstGeom prst="rect">
            <a:avLst/>
          </a:prstGeom>
          <a:solidFill>
            <a:srgbClr val="FFF7ED"/>
          </a:solidFill>
          <a:ln/>
        </p:spPr>
      </p:sp>
      <p:sp>
        <p:nvSpPr>
          <p:cNvPr id="22" name="Shape 18"/>
          <p:cNvSpPr/>
          <p:nvPr/>
        </p:nvSpPr>
        <p:spPr>
          <a:xfrm>
            <a:off x="4714875" y="1350169"/>
            <a:ext cx="4000500" cy="7144"/>
          </a:xfrm>
          <a:prstGeom prst="rect">
            <a:avLst/>
          </a:prstGeom>
          <a:solidFill>
            <a:srgbClr val="FFEDD5"/>
          </a:solidFill>
          <a:ln/>
        </p:spPr>
      </p:sp>
      <p:sp>
        <p:nvSpPr>
          <p:cNvPr id="23" name="Shape 19"/>
          <p:cNvSpPr/>
          <p:nvPr/>
        </p:nvSpPr>
        <p:spPr>
          <a:xfrm>
            <a:off x="8708231" y="1350169"/>
            <a:ext cx="7144" cy="1199369"/>
          </a:xfrm>
          <a:prstGeom prst="rect">
            <a:avLst/>
          </a:prstGeom>
          <a:solidFill>
            <a:srgbClr val="FFEDD5"/>
          </a:solidFill>
          <a:ln/>
        </p:spPr>
      </p:sp>
      <p:sp>
        <p:nvSpPr>
          <p:cNvPr id="24" name="Shape 20"/>
          <p:cNvSpPr/>
          <p:nvPr/>
        </p:nvSpPr>
        <p:spPr>
          <a:xfrm>
            <a:off x="4714875" y="2542394"/>
            <a:ext cx="4000500" cy="7144"/>
          </a:xfrm>
          <a:prstGeom prst="rect">
            <a:avLst/>
          </a:prstGeom>
          <a:solidFill>
            <a:srgbClr val="FFEDD5"/>
          </a:solidFill>
          <a:ln/>
        </p:spPr>
      </p:sp>
      <p:sp>
        <p:nvSpPr>
          <p:cNvPr id="25" name="Shape 21"/>
          <p:cNvSpPr/>
          <p:nvPr/>
        </p:nvSpPr>
        <p:spPr>
          <a:xfrm>
            <a:off x="4714875" y="1350169"/>
            <a:ext cx="28575" cy="1199369"/>
          </a:xfrm>
          <a:prstGeom prst="rect">
            <a:avLst/>
          </a:prstGeom>
          <a:solidFill>
            <a:srgbClr val="D97706"/>
          </a:solidFill>
          <a:ln/>
        </p:spPr>
      </p:sp>
      <p:sp>
        <p:nvSpPr>
          <p:cNvPr id="26" name="Text 22"/>
          <p:cNvSpPr/>
          <p:nvPr/>
        </p:nvSpPr>
        <p:spPr>
          <a:xfrm>
            <a:off x="4893469" y="1528763"/>
            <a:ext cx="3643313" cy="139303"/>
          </a:xfrm>
          <a:prstGeom prst="rect">
            <a:avLst/>
          </a:prstGeom>
          <a:noFill/>
          <a:ln/>
        </p:spPr>
        <p:txBody>
          <a:bodyPr wrap="square" lIns="0" tIns="0" rIns="0" bIns="0" rtlCol="0" anchor="t">
            <a:spAutoFit/>
          </a:bodyPr>
          <a:lstStyle/>
          <a:p>
            <a:pPr algn="l" indent="0" marL="0">
              <a:buNone/>
            </a:pPr>
            <a:r>
              <a:rPr lang="en-US" sz="800" b="1" dirty="0">
                <a:solidFill>
                  <a:srgbClr val="9A3412"/>
                </a:solidFill>
                <a:latin typeface="Inter Bold" pitchFamily="34" charset="0"/>
                <a:ea typeface="Inter Bold" pitchFamily="34" charset="-122"/>
                <a:cs typeface="Inter Bold" pitchFamily="34" charset="-120"/>
              </a:rPr>
              <a:t>Immediate Requirements:</a:t>
            </a:r>
            <a:endParaRPr lang="en-US" sz="800" dirty="0"/>
          </a:p>
        </p:txBody>
      </p:sp>
      <p:sp>
        <p:nvSpPr>
          <p:cNvPr id="27" name="Text 23"/>
          <p:cNvSpPr/>
          <p:nvPr/>
        </p:nvSpPr>
        <p:spPr>
          <a:xfrm>
            <a:off x="4893469" y="1739503"/>
            <a:ext cx="3643313"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A3412"/>
                </a:solidFill>
                <a:latin typeface="Inter" pitchFamily="34" charset="0"/>
                <a:ea typeface="Inter" pitchFamily="34" charset="-122"/>
                <a:cs typeface="Inter" pitchFamily="34" charset="-120"/>
              </a:rPr>
              <a:t>• Scoped Shopify staging API key.</a:t>
            </a:r>
            <a:r>
              <a:rPr lang="en-US" sz="950" dirty="0">
                <a:solidFill>
                  <a:srgbClr val="9A3412"/>
                </a:solidFill>
                <a:latin typeface="Inter" pitchFamily="34" charset="0"/>
                <a:ea typeface="Inter" pitchFamily="34" charset="-122"/>
                <a:cs typeface="Inter" pitchFamily="34" charset="-120"/>
              </a:rPr>
              <a:t>
</a:t>
            </a:r>
            <a:r>
              <a:rPr lang="en-US" sz="950" dirty="0">
                <a:solidFill>
                  <a:srgbClr val="9A3412"/>
                </a:solidFill>
                <a:latin typeface="Inter" pitchFamily="34" charset="0"/>
                <a:ea typeface="Inter" pitchFamily="34" charset="-122"/>
                <a:cs typeface="Inter" pitchFamily="34" charset="-120"/>
              </a:rPr>
              <a:t>• 100 historical handwritten challans.</a:t>
            </a:r>
            <a:r>
              <a:rPr lang="en-US" sz="950" dirty="0">
                <a:solidFill>
                  <a:srgbClr val="9A3412"/>
                </a:solidFill>
                <a:latin typeface="Inter" pitchFamily="34" charset="0"/>
                <a:ea typeface="Inter" pitchFamily="34" charset="-122"/>
                <a:cs typeface="Inter" pitchFamily="34" charset="-120"/>
              </a:rPr>
              <a:t>
</a:t>
            </a:r>
            <a:r>
              <a:rPr lang="en-US" sz="950" dirty="0">
                <a:solidFill>
                  <a:srgbClr val="9A3412"/>
                </a:solidFill>
                <a:latin typeface="Inter" pitchFamily="34" charset="0"/>
                <a:ea typeface="Inter" pitchFamily="34" charset="-122"/>
                <a:cs typeface="Inter" pitchFamily="34" charset="-120"/>
              </a:rPr>
              <a:t>• 2 hours/week with one listing operator.</a:t>
            </a:r>
            <a:endParaRPr lang="en-US" sz="950" dirty="0"/>
          </a:p>
        </p:txBody>
      </p:sp>
      <p:sp>
        <p:nvSpPr>
          <p:cNvPr id="28" name="Text 24"/>
          <p:cNvSpPr/>
          <p:nvPr/>
        </p:nvSpPr>
        <p:spPr>
          <a:xfrm>
            <a:off x="428625" y="4736306"/>
            <a:ext cx="1050131"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DHG-FUTURE-VISION</a:t>
            </a:r>
            <a:endParaRPr lang="en-US" sz="750" dirty="0"/>
          </a:p>
        </p:txBody>
      </p:sp>
      <p:sp>
        <p:nvSpPr>
          <p:cNvPr id="29" name="Text 25"/>
          <p:cNvSpPr/>
          <p:nvPr/>
        </p:nvSpPr>
        <p:spPr>
          <a:xfrm>
            <a:off x="8329613" y="4736306"/>
            <a:ext cx="385763"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69877" y="2053828"/>
            <a:ext cx="5404247" cy="646509"/>
          </a:xfrm>
          <a:prstGeom prst="rect">
            <a:avLst/>
          </a:prstGeom>
          <a:noFill/>
          <a:ln/>
        </p:spPr>
        <p:txBody>
          <a:bodyPr wrap="square" lIns="0" tIns="0" rIns="0" bIns="0" rtlCol="0" anchor="t">
            <a:spAutoFit/>
          </a:bodyPr>
          <a:lstStyle/>
          <a:p>
            <a:pPr algn="l" indent="0" marL="0">
              <a:buNone/>
            </a:pPr>
            <a:r>
              <a:rPr lang="en-US" sz="3750" b="1" dirty="0">
                <a:solidFill>
                  <a:srgbClr val="FFFFFF"/>
                </a:solidFill>
                <a:latin typeface="Outfit Bold" pitchFamily="34" charset="0"/>
                <a:ea typeface="Outfit Bold" pitchFamily="34" charset="-122"/>
                <a:cs typeface="Outfit Bold" pitchFamily="34" charset="-120"/>
              </a:rPr>
              <a:t>Questions &amp; Discussion</a:t>
            </a:r>
            <a:endParaRPr lang="en-US" sz="3750" dirty="0"/>
          </a:p>
        </p:txBody>
      </p:sp>
      <p:sp>
        <p:nvSpPr>
          <p:cNvPr id="5" name="Text 1"/>
          <p:cNvSpPr/>
          <p:nvPr/>
        </p:nvSpPr>
        <p:spPr>
          <a:xfrm>
            <a:off x="1884164" y="2843213"/>
            <a:ext cx="5375672" cy="275034"/>
          </a:xfrm>
          <a:prstGeom prst="rect">
            <a:avLst/>
          </a:prstGeom>
          <a:noFill/>
          <a:ln/>
        </p:spPr>
        <p:txBody>
          <a:bodyPr wrap="square" lIns="0" tIns="0" rIns="0" bIns="0" rtlCol="0" anchor="t">
            <a:spAutoFit/>
          </a:bodyPr>
          <a:lstStyle/>
          <a:p>
            <a:pPr algn="l" indent="0" marL="0">
              <a:buNone/>
            </a:pPr>
            <a:r>
              <a:rPr lang="en-US" sz="1700" spc="3" kern="0" dirty="0">
                <a:solidFill>
                  <a:srgbClr val="94A3B8"/>
                </a:solidFill>
                <a:latin typeface="Inter" pitchFamily="34" charset="0"/>
                <a:ea typeface="Inter" pitchFamily="34" charset="-122"/>
                <a:cs typeface="Inter" pitchFamily="34" charset="-120"/>
              </a:rPr>
              <a:t>DHAGA &amp; CO. | PROJECT ACCELERATOR</a:t>
            </a:r>
            <a:endParaRPr lang="en-US" sz="1700" dirty="0"/>
          </a:p>
        </p:txBody>
      </p:sp>
      <p:sp>
        <p:nvSpPr>
          <p:cNvPr id="6" name="Text 2"/>
          <p:cNvSpPr/>
          <p:nvPr/>
        </p:nvSpPr>
        <p:spPr>
          <a:xfrm>
            <a:off x="428625" y="4593431"/>
            <a:ext cx="1082278" cy="121444"/>
          </a:xfrm>
          <a:prstGeom prst="rect">
            <a:avLst/>
          </a:prstGeom>
          <a:noFill/>
          <a:ln/>
        </p:spPr>
        <p:txBody>
          <a:bodyPr wrap="none" lIns="0" tIns="0" rIns="0" bIns="0" rtlCol="0" anchor="t">
            <a:spAutoFit/>
          </a:bodyPr>
          <a:lstStyle/>
          <a:p>
            <a:pPr algn="l" indent="0" marL="0">
              <a:buNone/>
            </a:pPr>
            <a:r>
              <a:rPr lang="en-US" sz="750" spc="2" kern="0" dirty="0">
                <a:solidFill>
                  <a:srgbClr val="64748B"/>
                </a:solidFill>
                <a:latin typeface="Inter" pitchFamily="34" charset="0"/>
                <a:ea typeface="Inter" pitchFamily="34" charset="-122"/>
                <a:cs typeface="Inter" pitchFamily="34" charset="-120"/>
              </a:rPr>
              <a:t>DHG-QA-SESSION</a:t>
            </a:r>
            <a:endParaRPr lang="en-US" sz="750" dirty="0"/>
          </a:p>
        </p:txBody>
      </p:sp>
      <p:sp>
        <p:nvSpPr>
          <p:cNvPr id="7" name="Text 3"/>
          <p:cNvSpPr/>
          <p:nvPr/>
        </p:nvSpPr>
        <p:spPr>
          <a:xfrm>
            <a:off x="8336756" y="4593431"/>
            <a:ext cx="378619" cy="121444"/>
          </a:xfrm>
          <a:prstGeom prst="rect">
            <a:avLst/>
          </a:prstGeom>
          <a:noFill/>
          <a:ln/>
        </p:spPr>
        <p:txBody>
          <a:bodyPr wrap="non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Slide 07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2026-10-06T15:51:28Z</dcterms:created>
  <dcterms:modified xsi:type="dcterms:W3CDTF">2026-10-06T15:51:28Z</dcterms:modified>
</cp:coreProperties>
</file>